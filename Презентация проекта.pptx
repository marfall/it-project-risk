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y="6858000" cx="12188950"/>
  <p:notesSz cx="6858000" cy="9144000"/>
  <p:embeddedFontLst>
    <p:embeddedFont>
      <p:font typeface="Roboto"/>
      <p:regular r:id="rId22"/>
      <p:bold r:id="rId23"/>
      <p:italic r:id="rId24"/>
      <p:boldItalic r:id="rId25"/>
    </p:embeddedFont>
    <p:embeddedFont>
      <p:font typeface="Roboto Mono"/>
      <p:regular r:id="rId26"/>
      <p:bold r:id="rId27"/>
      <p:italic r:id="rId28"/>
      <p:boldItalic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E253ED9-8033-46A3-A4D7-517238075FF3}">
  <a:tblStyle styleId="{6E253ED9-8033-46A3-A4D7-517238075FF3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font" Target="fonts/Roboto-regular.fntdata"/><Relationship Id="rId21" Type="http://schemas.openxmlformats.org/officeDocument/2006/relationships/slide" Target="slides/slide15.xml"/><Relationship Id="rId24" Type="http://schemas.openxmlformats.org/officeDocument/2006/relationships/font" Target="fonts/Roboto-italic.fntdata"/><Relationship Id="rId23" Type="http://schemas.openxmlformats.org/officeDocument/2006/relationships/font" Target="fonts/Roboto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RobotoMono-regular.fntdata"/><Relationship Id="rId25" Type="http://schemas.openxmlformats.org/officeDocument/2006/relationships/font" Target="fonts/Roboto-boldItalic.fntdata"/><Relationship Id="rId28" Type="http://schemas.openxmlformats.org/officeDocument/2006/relationships/font" Target="fonts/RobotoMono-italic.fntdata"/><Relationship Id="rId27" Type="http://schemas.openxmlformats.org/officeDocument/2006/relationships/font" Target="fonts/RobotoMono-bold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RobotoMono-bold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c2674be7-652a-41b1-9466-4d528baa4705.png" id="15" name="Google Shape;15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88952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9" name="Google Shape;19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1" name="Google Shape;31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8" name="Google Shape;38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4" name="Google Shape;44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5" name="Google Shape;45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6" name="Google Shape;46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7" name="Google Shape;47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8" name="Google Shape;58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9" name="Google Shape;59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5" name="Google Shape;65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6" name="Google Shape;66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image" Target="../media/image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Relationship Id="rId4" Type="http://schemas.openxmlformats.org/officeDocument/2006/relationships/image" Target="../media/image7.png"/><Relationship Id="rId5" Type="http://schemas.openxmlformats.org/officeDocument/2006/relationships/image" Target="../media/image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Relationship Id="rId4" Type="http://schemas.openxmlformats.org/officeDocument/2006/relationships/image" Target="../media/image1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Relationship Id="rId4" Type="http://schemas.openxmlformats.org/officeDocument/2006/relationships/image" Target="../media/image1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Relationship Id="rId4" Type="http://schemas.openxmlformats.org/officeDocument/2006/relationships/image" Target="../media/image1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noFill/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/>
          <p:nvPr/>
        </p:nvSpPr>
        <p:spPr>
          <a:xfrm>
            <a:off x="-25" y="0"/>
            <a:ext cx="12189000" cy="6858000"/>
          </a:xfrm>
          <a:prstGeom prst="rect">
            <a:avLst/>
          </a:prstGeom>
          <a:solidFill>
            <a:srgbClr val="2B2B2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9cf1f51f-86b8-4d35-8f03-013530f8d465.png" id="86" name="Google Shape;86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2733675" y="2943225"/>
            <a:ext cx="6534150" cy="6534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9cf1f51f-86b8-4d35-8f03-013530f8d465.png" id="87" name="Google Shape;87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24849" y="-3086100"/>
            <a:ext cx="6515100" cy="6515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e8fdcb81-14ae-481f-857d-ba0a15fd3ec1.png" id="88" name="Google Shape;88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2362200" y="4638675"/>
            <a:ext cx="4838700" cy="4838700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3"/>
          <p:cNvSpPr/>
          <p:nvPr/>
        </p:nvSpPr>
        <p:spPr>
          <a:xfrm>
            <a:off x="819150" y="1971675"/>
            <a:ext cx="10553700" cy="1581300"/>
          </a:xfrm>
          <a:prstGeom prst="roundRect">
            <a:avLst>
              <a:gd fmla="val 0" name="adj"/>
            </a:avLst>
          </a:prstGeom>
          <a:solidFill>
            <a:srgbClr val="FFFFFF">
              <a:alpha val="0"/>
            </a:srgbClr>
          </a:solidFill>
          <a:ln>
            <a:noFill/>
          </a:ln>
        </p:spPr>
        <p:txBody>
          <a:bodyPr anchorCtr="0" anchor="t" bIns="95250" lIns="95250" spcFirstLastPara="1" rIns="95250" wrap="square" tIns="952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solidFill>
                  <a:srgbClr val="FFFFFF"/>
                </a:solidFill>
              </a:rPr>
              <a:t>Управление IT-проектами на основе данных</a:t>
            </a:r>
            <a:r>
              <a:rPr b="1" lang="en-US" sz="3000">
                <a:solidFill>
                  <a:srgbClr val="FFFFFF"/>
                </a:solidFill>
              </a:rPr>
              <a:t>: </a:t>
            </a:r>
            <a:endParaRPr b="1" sz="3000">
              <a:solidFill>
                <a:srgbClr val="FFFFFF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FFFFFF"/>
                </a:solidFill>
              </a:rPr>
              <a:t>п</a:t>
            </a:r>
            <a:r>
              <a:rPr b="1" lang="en-US" sz="3000">
                <a:solidFill>
                  <a:srgbClr val="FFFFFF"/>
                </a:solidFill>
              </a:rPr>
              <a:t>рогнозирование успеха, интерпретация рисков и предиктивный мониторинг потерь</a:t>
            </a:r>
            <a:endParaRPr b="1" i="0" sz="30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1" sz="3000">
              <a:solidFill>
                <a:srgbClr val="FFFFFF"/>
              </a:solidFill>
            </a:endParaRPr>
          </a:p>
        </p:txBody>
      </p:sp>
      <p:sp>
        <p:nvSpPr>
          <p:cNvPr id="90" name="Google Shape;90;p13"/>
          <p:cNvSpPr txBox="1"/>
          <p:nvPr/>
        </p:nvSpPr>
        <p:spPr>
          <a:xfrm>
            <a:off x="7121050" y="4927950"/>
            <a:ext cx="5067900" cy="210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810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9FAFB"/>
              </a:buClr>
              <a:buSzPts val="2400"/>
              <a:buFont typeface="Roboto"/>
              <a:buChar char="●"/>
            </a:pPr>
            <a:r>
              <a:rPr lang="en-US" sz="2400">
                <a:solidFill>
                  <a:srgbClr val="F9FAFB"/>
                </a:solidFill>
                <a:latin typeface="Roboto"/>
                <a:ea typeface="Roboto"/>
                <a:cs typeface="Roboto"/>
                <a:sym typeface="Roboto"/>
              </a:rPr>
              <a:t>Дипломный проект</a:t>
            </a:r>
            <a:endParaRPr sz="2400">
              <a:solidFill>
                <a:srgbClr val="F9FAFB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9FAFB"/>
              </a:buClr>
              <a:buSzPts val="2400"/>
              <a:buFont typeface="Roboto"/>
              <a:buChar char="●"/>
            </a:pPr>
            <a:r>
              <a:rPr lang="en-US" sz="2400">
                <a:solidFill>
                  <a:srgbClr val="F9FAFB"/>
                </a:solidFill>
                <a:latin typeface="Roboto"/>
                <a:ea typeface="Roboto"/>
                <a:cs typeface="Roboto"/>
                <a:sym typeface="Roboto"/>
              </a:rPr>
              <a:t>Автор: Весновский Александр</a:t>
            </a:r>
            <a:endParaRPr sz="2400">
              <a:solidFill>
                <a:srgbClr val="F9FAFB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9FAFB"/>
              </a:buClr>
              <a:buSzPts val="2400"/>
              <a:buFont typeface="Roboto"/>
              <a:buChar char="●"/>
            </a:pPr>
            <a:r>
              <a:rPr lang="en-US" sz="2400">
                <a:solidFill>
                  <a:srgbClr val="F9FAFB"/>
                </a:solidFill>
                <a:latin typeface="Roboto"/>
                <a:ea typeface="Roboto"/>
                <a:cs typeface="Roboto"/>
                <a:sym typeface="Roboto"/>
              </a:rPr>
              <a:t>Курс: ML Pro, OTUS</a:t>
            </a:r>
            <a:endParaRPr sz="2400">
              <a:solidFill>
                <a:srgbClr val="F9FAFB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noFill/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4"/>
          <p:cNvSpPr/>
          <p:nvPr/>
        </p:nvSpPr>
        <p:spPr>
          <a:xfrm>
            <a:off x="285750" y="781050"/>
            <a:ext cx="11620500" cy="1085850"/>
          </a:xfrm>
          <a:prstGeom prst="roundRect">
            <a:avLst>
              <a:gd fmla="val 0" name="adj"/>
            </a:avLst>
          </a:prstGeom>
          <a:solidFill>
            <a:srgbClr val="FFFFFF">
              <a:alpha val="0"/>
            </a:srgbClr>
          </a:solidFill>
          <a:ln>
            <a:noFill/>
          </a:ln>
        </p:spPr>
        <p:txBody>
          <a:bodyPr anchorCtr="0" anchor="t" bIns="95250" lIns="95250" spcFirstLastPara="1" rIns="95250" wrap="square" tIns="952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Постановка задачи</a:t>
            </a:r>
            <a:endParaRPr/>
          </a:p>
        </p:txBody>
      </p:sp>
      <p:sp>
        <p:nvSpPr>
          <p:cNvPr id="96" name="Google Shape;96;p14"/>
          <p:cNvSpPr/>
          <p:nvPr/>
        </p:nvSpPr>
        <p:spPr>
          <a:xfrm>
            <a:off x="285750" y="2362200"/>
            <a:ext cx="11786700" cy="2568600"/>
          </a:xfrm>
          <a:prstGeom prst="roundRect">
            <a:avLst>
              <a:gd fmla="val 0" name="adj"/>
            </a:avLst>
          </a:prstGeom>
          <a:solidFill>
            <a:srgbClr val="FFFFFF">
              <a:alpha val="0"/>
            </a:srgbClr>
          </a:solidFill>
          <a:ln>
            <a:noFill/>
          </a:ln>
        </p:spPr>
        <p:txBody>
          <a:bodyPr anchorCtr="0" anchor="t" bIns="95250" lIns="95250" spcFirstLastPara="1" rIns="95250" wrap="square" tIns="95250">
            <a:noAutofit/>
          </a:bodyPr>
          <a:lstStyle/>
          <a:p>
            <a:pPr indent="-3746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9FAFB"/>
              </a:buClr>
              <a:buSzPts val="2300"/>
              <a:buFont typeface="Arial"/>
              <a:buChar char="●"/>
            </a:pPr>
            <a:r>
              <a:rPr lang="en-US" sz="2300">
                <a:solidFill>
                  <a:srgbClr val="F9FAFB"/>
                </a:solidFill>
              </a:rPr>
              <a:t>30–40% IT-проектов проваливаются: сроки, бюджет, качество</a:t>
            </a:r>
            <a:endParaRPr sz="2300">
              <a:solidFill>
                <a:srgbClr val="F9FAFB"/>
              </a:solidFill>
            </a:endParaRPr>
          </a:p>
          <a:p>
            <a:pPr indent="-3746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9FAFB"/>
              </a:buClr>
              <a:buSzPts val="2300"/>
              <a:buFont typeface="Arial"/>
              <a:buChar char="●"/>
            </a:pPr>
            <a:r>
              <a:rPr lang="en-US" sz="2300">
                <a:solidFill>
                  <a:srgbClr val="F9FAFB"/>
                </a:solidFill>
              </a:rPr>
              <a:t>Причины обычно видны уже после завершения — когда влиять на исход поздно</a:t>
            </a:r>
            <a:endParaRPr sz="2300">
              <a:solidFill>
                <a:srgbClr val="F9FAFB"/>
              </a:solidFill>
            </a:endParaRPr>
          </a:p>
          <a:p>
            <a:pPr indent="-3746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9FAFB"/>
              </a:buClr>
              <a:buSzPts val="2300"/>
              <a:buFont typeface="Arial"/>
              <a:buChar char="●"/>
            </a:pPr>
            <a:r>
              <a:rPr lang="en-US" sz="2300">
                <a:solidFill>
                  <a:srgbClr val="F9FAFB"/>
                </a:solidFill>
              </a:rPr>
              <a:t>Цель — система поддержки управленческих решений</a:t>
            </a:r>
            <a:endParaRPr sz="2300">
              <a:solidFill>
                <a:srgbClr val="F9FAFB"/>
              </a:solidFill>
            </a:endParaRPr>
          </a:p>
          <a:p>
            <a:pPr indent="-3746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9FAFB"/>
              </a:buClr>
              <a:buSzPts val="2300"/>
              <a:buFont typeface="Arial"/>
              <a:buChar char="●"/>
            </a:pPr>
            <a:r>
              <a:rPr lang="en-US" sz="2300">
                <a:solidFill>
                  <a:srgbClr val="F9FAFB"/>
                </a:solidFill>
              </a:rPr>
              <a:t>ML-задача: многоклассовая классификация — Low / Medium / High / Critical</a:t>
            </a:r>
            <a:endParaRPr sz="2300">
              <a:solidFill>
                <a:srgbClr val="F9FAFB"/>
              </a:solidFill>
            </a:endParaRPr>
          </a:p>
          <a:p>
            <a:pPr indent="-3746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9FAFB"/>
              </a:buClr>
              <a:buSzPts val="2300"/>
              <a:buFont typeface="Arial"/>
              <a:buChar char="●"/>
            </a:pPr>
            <a:r>
              <a:rPr lang="en-US" sz="2300">
                <a:solidFill>
                  <a:srgbClr val="F9FAFB"/>
                </a:solidFill>
              </a:rPr>
              <a:t>Система даёт: прогноз риска, объяснение причин, отслеживание динамики</a:t>
            </a:r>
            <a:endParaRPr sz="2300">
              <a:solidFill>
                <a:srgbClr val="F9FAFB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noFill/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5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B2B2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9cf1f51f-86b8-4d35-8f03-013530f8d465.png" id="102" name="Google Shape;102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886950" y="-1190625"/>
            <a:ext cx="3409950" cy="3409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9cf1f51f-86b8-4d35-8f03-013530f8d465.png" id="103" name="Google Shape;103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2266950" y="4371975"/>
            <a:ext cx="51435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5"/>
          <p:cNvSpPr/>
          <p:nvPr/>
        </p:nvSpPr>
        <p:spPr>
          <a:xfrm>
            <a:off x="-348350" y="332350"/>
            <a:ext cx="11763300" cy="1276500"/>
          </a:xfrm>
          <a:prstGeom prst="roundRect">
            <a:avLst>
              <a:gd fmla="val 0" name="adj"/>
            </a:avLst>
          </a:prstGeom>
          <a:solidFill>
            <a:srgbClr val="FFFFFF">
              <a:alpha val="0"/>
            </a:srgbClr>
          </a:solidFill>
          <a:ln>
            <a:noFill/>
          </a:ln>
        </p:spPr>
        <p:txBody>
          <a:bodyPr anchorCtr="0" anchor="t" bIns="95250" lIns="95250" spcFirstLastPara="1" rIns="95250" wrap="square" tIns="952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Данные и распределение классов</a:t>
            </a:r>
            <a:endParaRPr/>
          </a:p>
        </p:txBody>
      </p:sp>
      <p:sp>
        <p:nvSpPr>
          <p:cNvPr id="105" name="Google Shape;105;p15"/>
          <p:cNvSpPr/>
          <p:nvPr/>
        </p:nvSpPr>
        <p:spPr>
          <a:xfrm>
            <a:off x="1690400" y="5238900"/>
            <a:ext cx="11315700" cy="1619100"/>
          </a:xfrm>
          <a:prstGeom prst="roundRect">
            <a:avLst>
              <a:gd fmla="val 0" name="adj"/>
            </a:avLst>
          </a:prstGeom>
          <a:solidFill>
            <a:srgbClr val="FFFFFF">
              <a:alpha val="0"/>
            </a:srgbClr>
          </a:solidFill>
          <a:ln>
            <a:noFill/>
          </a:ln>
        </p:spPr>
        <p:txBody>
          <a:bodyPr anchorCtr="0" anchor="t" bIns="95250" lIns="95250" spcFirstLastPara="1" rIns="95250" wrap="square" tIns="95250">
            <a:no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9FAFB"/>
              </a:buClr>
              <a:buSzPts val="1200"/>
              <a:buFont typeface="Arial"/>
              <a:buChar char="●"/>
            </a:pPr>
            <a:r>
              <a:rPr b="1" lang="en-US" sz="1500">
                <a:solidFill>
                  <a:srgbClr val="F9FAFB"/>
                </a:solidFill>
              </a:rPr>
              <a:t>Распределение целевой переменной </a:t>
            </a:r>
            <a:r>
              <a:rPr b="1" lang="en-US" sz="1350">
                <a:solidFill>
                  <a:srgbClr val="F9FAFB"/>
                </a:solidFill>
              </a:rPr>
              <a:t>Risk_Level</a:t>
            </a:r>
            <a:r>
              <a:rPr b="1" lang="en-US" sz="1500">
                <a:solidFill>
                  <a:srgbClr val="F9FAFB"/>
                </a:solidFill>
              </a:rPr>
              <a:t> по четырём классам.</a:t>
            </a:r>
            <a:endParaRPr b="1" sz="1500">
              <a:solidFill>
                <a:srgbClr val="F9FAFB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9FAFB"/>
              </a:buClr>
              <a:buSzPts val="1500"/>
              <a:buFont typeface="Arial"/>
              <a:buChar char="●"/>
            </a:pPr>
            <a:r>
              <a:rPr b="1" lang="en-US" sz="1500">
                <a:solidFill>
                  <a:srgbClr val="F9FAFB"/>
                </a:solidFill>
              </a:rPr>
              <a:t>Medium — 35%, High — 26%, Low — 20%, Critical — 19%. Дисбаланс умеренный.</a:t>
            </a:r>
            <a:endParaRPr b="1" sz="1500">
              <a:solidFill>
                <a:srgbClr val="F9FAFB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9FAFB"/>
              </a:buClr>
              <a:buSzPts val="1500"/>
              <a:buFont typeface="Arial"/>
              <a:buChar char="●"/>
            </a:pPr>
            <a:r>
              <a:rPr b="1" lang="en-US" sz="1500">
                <a:solidFill>
                  <a:srgbClr val="F9FAFB"/>
                </a:solidFill>
              </a:rPr>
              <a:t>Самый частый класс в 1.8 раза чаще самого редкого.</a:t>
            </a:r>
            <a:endParaRPr b="1" sz="1500">
              <a:solidFill>
                <a:srgbClr val="F9FAFB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9FAFB"/>
              </a:buClr>
              <a:buSzPts val="1500"/>
              <a:buFont typeface="Arial"/>
              <a:buChar char="●"/>
            </a:pPr>
            <a:r>
              <a:rPr b="1" lang="en-US" sz="1500">
                <a:solidFill>
                  <a:srgbClr val="F9FAFB"/>
                </a:solidFill>
              </a:rPr>
              <a:t>Вывод: accuracy как метрика не подойдёт — используем F1-macro.</a:t>
            </a:r>
            <a:endParaRPr b="1" sz="1500">
              <a:solidFill>
                <a:srgbClr val="F9FAFB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700"/>
              </a:spcBef>
              <a:spcAft>
                <a:spcPts val="1200"/>
              </a:spcAft>
              <a:buNone/>
            </a:pPr>
            <a:r>
              <a:t/>
            </a:r>
            <a:endParaRPr sz="1900">
              <a:solidFill>
                <a:srgbClr val="F9FAFB"/>
              </a:solidFill>
            </a:endParaRPr>
          </a:p>
        </p:txBody>
      </p:sp>
      <p:pic>
        <p:nvPicPr>
          <p:cNvPr descr="01_class_distribution.png" id="106" name="Google Shape;106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592550" y="1207025"/>
            <a:ext cx="6026425" cy="37148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noFill/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2674be7-652a-41b1-9466-4d528baa4705.png" id="111" name="Google Shape;111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88952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6"/>
          <p:cNvSpPr/>
          <p:nvPr/>
        </p:nvSpPr>
        <p:spPr>
          <a:xfrm>
            <a:off x="285750" y="781050"/>
            <a:ext cx="11620500" cy="1085850"/>
          </a:xfrm>
          <a:prstGeom prst="roundRect">
            <a:avLst>
              <a:gd fmla="val 0" name="adj"/>
            </a:avLst>
          </a:prstGeom>
          <a:solidFill>
            <a:srgbClr val="FFFFFF">
              <a:alpha val="0"/>
            </a:srgbClr>
          </a:solidFill>
          <a:ln>
            <a:noFill/>
          </a:ln>
        </p:spPr>
        <p:txBody>
          <a:bodyPr anchorCtr="0" anchor="t" bIns="95250" lIns="95250" spcFirstLastPara="1" rIns="95250" wrap="square" tIns="952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Конвейер и фиче‑инжиниринг</a:t>
            </a:r>
            <a:endParaRPr/>
          </a:p>
        </p:txBody>
      </p:sp>
      <p:sp>
        <p:nvSpPr>
          <p:cNvPr id="113" name="Google Shape;113;p16"/>
          <p:cNvSpPr/>
          <p:nvPr/>
        </p:nvSpPr>
        <p:spPr>
          <a:xfrm>
            <a:off x="828675" y="2362200"/>
            <a:ext cx="10534650" cy="4143375"/>
          </a:xfrm>
          <a:prstGeom prst="roundRect">
            <a:avLst>
              <a:gd fmla="val 0" name="adj"/>
            </a:avLst>
          </a:prstGeom>
          <a:solidFill>
            <a:srgbClr val="FFFFFF">
              <a:alpha val="0"/>
            </a:srgbClr>
          </a:solidFill>
          <a:ln>
            <a:noFill/>
          </a:ln>
        </p:spPr>
        <p:txBody>
          <a:bodyPr anchorCtr="0" anchor="t" bIns="95250" lIns="95250" spcFirstLastPara="1" rIns="95250" wrap="square" tIns="95250">
            <a:noAutofit/>
          </a:bodyPr>
          <a:lstStyle/>
          <a:p>
            <a:pPr indent="-3937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9FAFB"/>
              </a:buClr>
              <a:buSzPts val="2600"/>
              <a:buFont typeface="Roboto"/>
              <a:buChar char="●"/>
            </a:pPr>
            <a:r>
              <a:rPr lang="en-US" sz="2600">
                <a:solidFill>
                  <a:srgbClr val="F9FAFB"/>
                </a:solidFill>
                <a:latin typeface="Roboto"/>
                <a:ea typeface="Roboto"/>
                <a:cs typeface="Roboto"/>
                <a:sym typeface="Roboto"/>
              </a:rPr>
              <a:t>Конвейер: ColumnTransformer + Pipeline из sklearn</a:t>
            </a:r>
            <a:endParaRPr sz="2600">
              <a:solidFill>
                <a:srgbClr val="F9FAFB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937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9FAFB"/>
              </a:buClr>
              <a:buSzPts val="2600"/>
              <a:buFont typeface="Roboto"/>
              <a:buChar char="●"/>
            </a:pPr>
            <a:r>
              <a:rPr lang="en-US" sz="2600">
                <a:solidFill>
                  <a:srgbClr val="F9FAFB"/>
                </a:solidFill>
                <a:latin typeface="Roboto"/>
                <a:ea typeface="Roboto"/>
                <a:cs typeface="Roboto"/>
                <a:sym typeface="Roboto"/>
              </a:rPr>
              <a:t>Категориальные → One-Hot: 23 колонки → 94 бинарных</a:t>
            </a:r>
            <a:endParaRPr sz="2600">
              <a:solidFill>
                <a:srgbClr val="F9FAFB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937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9FAFB"/>
              </a:buClr>
              <a:buSzPts val="2600"/>
              <a:buFont typeface="Roboto"/>
              <a:buChar char="●"/>
            </a:pPr>
            <a:r>
              <a:rPr lang="en-US" sz="2600">
                <a:solidFill>
                  <a:srgbClr val="F9FAFB"/>
                </a:solidFill>
                <a:latin typeface="Roboto"/>
                <a:ea typeface="Roboto"/>
                <a:cs typeface="Roboto"/>
                <a:sym typeface="Roboto"/>
              </a:rPr>
              <a:t>Числовые → StandardScaler: 25 колонок → 25</a:t>
            </a:r>
            <a:endParaRPr sz="2600">
              <a:solidFill>
                <a:srgbClr val="F9FAFB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937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9FAFB"/>
              </a:buClr>
              <a:buSzPts val="2600"/>
              <a:buFont typeface="Roboto"/>
              <a:buChar char="●"/>
            </a:pPr>
            <a:r>
              <a:rPr lang="en-US" sz="2600">
                <a:solidFill>
                  <a:srgbClr val="F9FAFB"/>
                </a:solidFill>
                <a:latin typeface="Roboto"/>
                <a:ea typeface="Roboto"/>
                <a:cs typeface="Roboto"/>
                <a:sym typeface="Roboto"/>
              </a:rPr>
              <a:t>Текстовые → TF-IDF: 111 признаков</a:t>
            </a:r>
            <a:endParaRPr sz="2600">
              <a:solidFill>
                <a:srgbClr val="F9FAFB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937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9FAFB"/>
              </a:buClr>
              <a:buSzPts val="2600"/>
              <a:buFont typeface="Roboto"/>
              <a:buChar char="●"/>
            </a:pPr>
            <a:r>
              <a:rPr lang="en-US" sz="2600">
                <a:solidFill>
                  <a:srgbClr val="F9FAFB"/>
                </a:solidFill>
                <a:latin typeface="Roboto"/>
                <a:ea typeface="Roboto"/>
                <a:cs typeface="Roboto"/>
                <a:sym typeface="Roboto"/>
              </a:rPr>
              <a:t>Итоговая матрица: 230 признаков</a:t>
            </a:r>
            <a:endParaRPr sz="2600">
              <a:solidFill>
                <a:srgbClr val="F9FAFB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937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9FAFB"/>
              </a:buClr>
              <a:buSzPts val="2600"/>
              <a:buFont typeface="Roboto"/>
              <a:buChar char="●"/>
            </a:pPr>
            <a:r>
              <a:rPr lang="en-US" sz="2600">
                <a:solidFill>
                  <a:srgbClr val="F9FAFB"/>
                </a:solidFill>
                <a:latin typeface="Roboto"/>
                <a:ea typeface="Roboto"/>
                <a:cs typeface="Roboto"/>
                <a:sym typeface="Roboto"/>
              </a:rPr>
              <a:t>Разбиение: 80/20 со стратификацией — 3200 / 800</a:t>
            </a:r>
            <a:endParaRPr sz="2600">
              <a:solidFill>
                <a:srgbClr val="F9FAFB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noFill/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7"/>
          <p:cNvSpPr/>
          <p:nvPr/>
        </p:nvSpPr>
        <p:spPr>
          <a:xfrm>
            <a:off x="-25" y="-127175"/>
            <a:ext cx="12189000" cy="6858000"/>
          </a:xfrm>
          <a:prstGeom prst="rect">
            <a:avLst/>
          </a:prstGeom>
          <a:solidFill>
            <a:srgbClr val="2B2B2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9cf1f51f-86b8-4d35-8f03-013530f8d465.png" id="119" name="Google Shape;119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2257425" y="4371975"/>
            <a:ext cx="51435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7"/>
          <p:cNvSpPr/>
          <p:nvPr/>
        </p:nvSpPr>
        <p:spPr>
          <a:xfrm>
            <a:off x="150550" y="116050"/>
            <a:ext cx="11030100" cy="1276500"/>
          </a:xfrm>
          <a:prstGeom prst="roundRect">
            <a:avLst>
              <a:gd fmla="val 0" name="adj"/>
            </a:avLst>
          </a:prstGeom>
          <a:solidFill>
            <a:srgbClr val="FFFFFF">
              <a:alpha val="0"/>
            </a:srgbClr>
          </a:solidFill>
          <a:ln>
            <a:noFill/>
          </a:ln>
        </p:spPr>
        <p:txBody>
          <a:bodyPr anchorCtr="0" anchor="t" bIns="95250" lIns="95250" spcFirstLastPara="1" rIns="95250" wrap="square" tIns="952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Выбор модели</a:t>
            </a:r>
            <a:endParaRPr/>
          </a:p>
        </p:txBody>
      </p:sp>
      <p:sp>
        <p:nvSpPr>
          <p:cNvPr id="121" name="Google Shape;121;p17"/>
          <p:cNvSpPr/>
          <p:nvPr/>
        </p:nvSpPr>
        <p:spPr>
          <a:xfrm>
            <a:off x="744500" y="4275225"/>
            <a:ext cx="10820400" cy="2080500"/>
          </a:xfrm>
          <a:prstGeom prst="roundRect">
            <a:avLst>
              <a:gd fmla="val 0" name="adj"/>
            </a:avLst>
          </a:prstGeom>
          <a:solidFill>
            <a:srgbClr val="FFFFFF">
              <a:alpha val="0"/>
            </a:srgbClr>
          </a:solidFill>
          <a:ln>
            <a:noFill/>
          </a:ln>
        </p:spPr>
        <p:txBody>
          <a:bodyPr anchorCtr="0" anchor="t" bIns="95250" lIns="95250" spcFirstLastPara="1" rIns="95250" wrap="square" tIns="95250">
            <a:noAutofit/>
          </a:bodyPr>
          <a:lstStyle/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9FAFB"/>
              </a:buClr>
              <a:buSzPts val="1700"/>
              <a:buFont typeface="Arial"/>
              <a:buChar char="●"/>
            </a:pPr>
            <a:r>
              <a:rPr b="1" lang="en-US" sz="1700">
                <a:solidFill>
                  <a:srgbClr val="F9FAFB"/>
                </a:solidFill>
              </a:rPr>
              <a:t>Протестировано пять моделей: три варианта LightGBM, MLP на PyTorch, LogReg.</a:t>
            </a:r>
            <a:endParaRPr b="1" sz="1700">
              <a:solidFill>
                <a:srgbClr val="F9FAFB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9FAFB"/>
              </a:buClr>
              <a:buSzPts val="1700"/>
              <a:buFont typeface="Arial"/>
              <a:buChar char="●"/>
            </a:pPr>
            <a:r>
              <a:rPr b="1" lang="en-US" sz="1700">
                <a:solidFill>
                  <a:srgbClr val="F9FAFB"/>
                </a:solidFill>
              </a:rPr>
              <a:t>Победитель — LogReg + TF-IDF: F1-macro = 0.735, ROC-AUC = 0.916.</a:t>
            </a:r>
            <a:endParaRPr b="1" sz="1700">
              <a:solidFill>
                <a:srgbClr val="F9FAFB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9FAFB"/>
              </a:buClr>
              <a:buSzPts val="1700"/>
              <a:buFont typeface="Arial"/>
              <a:buChar char="●"/>
            </a:pPr>
            <a:r>
              <a:rPr b="1" lang="en-US" sz="1700">
                <a:solidFill>
                  <a:srgbClr val="F9FAFB"/>
                </a:solidFill>
              </a:rPr>
              <a:t>LightGBM tuned дал 0.682, MLP — 0.707. Оба хуже линейной модели.</a:t>
            </a:r>
            <a:endParaRPr b="1" sz="1700">
              <a:solidFill>
                <a:srgbClr val="F9FAFB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9FAFB"/>
              </a:buClr>
              <a:buSzPts val="1700"/>
              <a:buFont typeface="Arial"/>
              <a:buChar char="●"/>
            </a:pPr>
            <a:r>
              <a:rPr b="1" lang="en-US" sz="1700">
                <a:solidFill>
                  <a:srgbClr val="F9FAFB"/>
                </a:solidFill>
              </a:rPr>
              <a:t>Вывод: данные имеют линейную структуру. Сложные модели переобучаются, где линейной достаточно.</a:t>
            </a:r>
            <a:endParaRPr b="1" sz="1700">
              <a:solidFill>
                <a:srgbClr val="F9FAFB"/>
              </a:solidFill>
            </a:endParaRPr>
          </a:p>
        </p:txBody>
      </p:sp>
      <p:graphicFrame>
        <p:nvGraphicFramePr>
          <p:cNvPr id="122" name="Google Shape;122;p17"/>
          <p:cNvGraphicFramePr/>
          <p:nvPr/>
        </p:nvGraphicFramePr>
        <p:xfrm>
          <a:off x="1677105" y="131410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{6E253ED9-8033-46A3-A4D7-517238075FF3}</a:tableStyleId>
              </a:tblPr>
              <a:tblGrid>
                <a:gridCol w="2288275"/>
                <a:gridCol w="3120400"/>
                <a:gridCol w="1560200"/>
                <a:gridCol w="1560200"/>
              </a:tblGrid>
              <a:tr h="461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</a:rPr>
                        <a:t>Модель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</a:rPr>
                        <a:t>Признаки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</a:rPr>
                        <a:t>F1-macro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</a:rPr>
                        <a:t>ROC-AUC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F3A5F"/>
                    </a:solidFill>
                  </a:tcPr>
                </a:tc>
              </a:tr>
              <a:tr h="461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000000"/>
                          </a:solidFill>
                        </a:rPr>
                        <a:t>LightGBM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000000"/>
                          </a:solidFill>
                        </a:rPr>
                        <a:t>только табличные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000000"/>
                          </a:solidFill>
                        </a:rPr>
                        <a:t>0.682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000000"/>
                          </a:solidFill>
                        </a:rPr>
                        <a:t>0.894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  <a:tr h="461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000000"/>
                          </a:solidFill>
                        </a:rPr>
                        <a:t>LightGBM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FF3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000000"/>
                          </a:solidFill>
                        </a:rPr>
                        <a:t>табличные + TF-IDF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FF3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000000"/>
                          </a:solidFill>
                        </a:rPr>
                        <a:t>0.676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FF3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000000"/>
                          </a:solidFill>
                        </a:rPr>
                        <a:t>0.885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FF3F8"/>
                    </a:solidFill>
                  </a:tcPr>
                </a:tc>
              </a:tr>
              <a:tr h="461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000000"/>
                          </a:solidFill>
                        </a:rPr>
                        <a:t>MLP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000000"/>
                          </a:solidFill>
                        </a:rPr>
                        <a:t>табличные + TF-IDF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000000"/>
                          </a:solidFill>
                        </a:rPr>
                        <a:t>0.707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000000"/>
                          </a:solidFill>
                        </a:rPr>
                        <a:t>0.905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  <a:tr h="461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000000"/>
                          </a:solidFill>
                        </a:rPr>
                        <a:t>LogReg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FF3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000000"/>
                          </a:solidFill>
                        </a:rPr>
                        <a:t>только табличные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FF3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000000"/>
                          </a:solidFill>
                        </a:rPr>
                        <a:t>0.727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FF3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000000"/>
                          </a:solidFill>
                        </a:rPr>
                        <a:t>0.918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FF3F8"/>
                    </a:solidFill>
                  </a:tcPr>
                </a:tc>
              </a:tr>
              <a:tr h="461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000000"/>
                          </a:solidFill>
                        </a:rPr>
                        <a:t>LogReg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000000"/>
                          </a:solidFill>
                        </a:rPr>
                        <a:t>табличные + TF-IDF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000000"/>
                          </a:solidFill>
                        </a:rPr>
                        <a:t>0.735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000000"/>
                          </a:solidFill>
                        </a:rPr>
                        <a:t>0.916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noFill/>
      </p:bgPr>
    </p:bg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8"/>
          <p:cNvSpPr/>
          <p:nvPr/>
        </p:nvSpPr>
        <p:spPr>
          <a:xfrm>
            <a:off x="1525" y="48900"/>
            <a:ext cx="12189000" cy="6858000"/>
          </a:xfrm>
          <a:prstGeom prst="rect">
            <a:avLst/>
          </a:prstGeom>
          <a:solidFill>
            <a:srgbClr val="2B2B2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9cf1f51f-86b8-4d35-8f03-013530f8d465.png" id="128" name="Google Shape;128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2257425" y="4371975"/>
            <a:ext cx="51435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8"/>
          <p:cNvSpPr/>
          <p:nvPr/>
        </p:nvSpPr>
        <p:spPr>
          <a:xfrm>
            <a:off x="1525" y="155200"/>
            <a:ext cx="11030100" cy="1276500"/>
          </a:xfrm>
          <a:prstGeom prst="roundRect">
            <a:avLst>
              <a:gd fmla="val 0" name="adj"/>
            </a:avLst>
          </a:prstGeom>
          <a:solidFill>
            <a:srgbClr val="FFFFFF">
              <a:alpha val="0"/>
            </a:srgbClr>
          </a:solidFill>
          <a:ln>
            <a:noFill/>
          </a:ln>
        </p:spPr>
        <p:txBody>
          <a:bodyPr anchorCtr="0" anchor="t" bIns="95250" lIns="95250" spcFirstLastPara="1" rIns="95250" wrap="square" tIns="952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950">
                <a:solidFill>
                  <a:srgbClr val="FFFFFF"/>
                </a:solidFill>
              </a:rPr>
              <a:t>Метрики на train / val / test</a:t>
            </a:r>
            <a:endParaRPr sz="100"/>
          </a:p>
        </p:txBody>
      </p:sp>
      <p:sp>
        <p:nvSpPr>
          <p:cNvPr id="130" name="Google Shape;130;p18"/>
          <p:cNvSpPr/>
          <p:nvPr/>
        </p:nvSpPr>
        <p:spPr>
          <a:xfrm>
            <a:off x="685800" y="2447925"/>
            <a:ext cx="10820400" cy="3810000"/>
          </a:xfrm>
          <a:prstGeom prst="roundRect">
            <a:avLst>
              <a:gd fmla="val 0" name="adj"/>
            </a:avLst>
          </a:prstGeom>
          <a:solidFill>
            <a:srgbClr val="FFFFFF">
              <a:alpha val="0"/>
            </a:srgbClr>
          </a:solidFill>
          <a:ln>
            <a:noFill/>
          </a:ln>
        </p:spPr>
        <p:txBody>
          <a:bodyPr anchorCtr="0" anchor="t" bIns="95250" lIns="95250" spcFirstLastPara="1" rIns="95250" wrap="square" tIns="952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⁠</a:t>
            </a:r>
            <a:endParaRPr/>
          </a:p>
        </p:txBody>
      </p:sp>
      <p:graphicFrame>
        <p:nvGraphicFramePr>
          <p:cNvPr id="131" name="Google Shape;131;p18"/>
          <p:cNvGraphicFramePr/>
          <p:nvPr/>
        </p:nvGraphicFramePr>
        <p:xfrm>
          <a:off x="1471655" y="117168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{6E253ED9-8033-46A3-A4D7-517238075FF3}</a:tableStyleId>
              </a:tblPr>
              <a:tblGrid>
                <a:gridCol w="2787575"/>
                <a:gridCol w="2787575"/>
                <a:gridCol w="2787575"/>
              </a:tblGrid>
              <a:tr h="77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</a:rPr>
                        <a:t>Выборка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</a:rPr>
                        <a:t>F1-macro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</a:rPr>
                        <a:t>ROC-AUC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F3A5F"/>
                    </a:solidFill>
                  </a:tcPr>
                </a:tc>
              </a:tr>
              <a:tr h="77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000000"/>
                          </a:solidFill>
                        </a:rPr>
                        <a:t>Train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000000"/>
                          </a:solidFill>
                        </a:rPr>
                        <a:t>0.805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000000"/>
                          </a:solidFill>
                        </a:rPr>
                        <a:t>0.954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  <a:tr h="77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000000"/>
                          </a:solidFill>
                        </a:rPr>
                        <a:t>Val (CV)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FF3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000000"/>
                          </a:solidFill>
                        </a:rPr>
                        <a:t>0.727 ± 0.014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FF3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0.921 ± 0.004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FF3F8"/>
                    </a:solidFill>
                  </a:tcPr>
                </a:tc>
              </a:tr>
              <a:tr h="77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000000"/>
                          </a:solidFill>
                        </a:rPr>
                        <a:t>Test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000000"/>
                          </a:solidFill>
                        </a:rPr>
                        <a:t>0.735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000000"/>
                          </a:solidFill>
                        </a:rPr>
                        <a:t>0.916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2" name="Google Shape;132;p18"/>
          <p:cNvSpPr txBox="1"/>
          <p:nvPr/>
        </p:nvSpPr>
        <p:spPr>
          <a:xfrm>
            <a:off x="1320750" y="4793750"/>
            <a:ext cx="8638500" cy="121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9FAFB"/>
              </a:buClr>
              <a:buSzPts val="1500"/>
              <a:buFont typeface="Arial"/>
              <a:buChar char="●"/>
            </a:pPr>
            <a:r>
              <a:rPr b="1" lang="en-US" sz="1500">
                <a:solidFill>
                  <a:srgbClr val="F9FAFB"/>
                </a:solidFill>
              </a:rPr>
              <a:t>Метрики финальной модели на трёх выборках: train, val (5 фолдов CV), test.</a:t>
            </a:r>
            <a:endParaRPr b="1" sz="1500">
              <a:solidFill>
                <a:srgbClr val="F9FAFB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9FAFB"/>
              </a:buClr>
              <a:buSzPts val="1500"/>
              <a:buFont typeface="Arial"/>
              <a:buChar char="●"/>
            </a:pPr>
            <a:r>
              <a:rPr b="1" lang="en-US" sz="1500">
                <a:solidFill>
                  <a:srgbClr val="F9FAFB"/>
                </a:solidFill>
              </a:rPr>
              <a:t>Разрыв train / test: +0.070 по F1, +0.039 по ROC-AUC — умеренное переобучение.</a:t>
            </a:r>
            <a:endParaRPr b="1" sz="1500">
              <a:solidFill>
                <a:srgbClr val="F9FAFB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9FAFB"/>
              </a:buClr>
              <a:buSzPts val="1500"/>
              <a:buFont typeface="Arial"/>
              <a:buChar char="●"/>
            </a:pPr>
            <a:r>
              <a:rPr b="1" lang="en-US" sz="1500">
                <a:solidFill>
                  <a:srgbClr val="F9FAFB"/>
                </a:solidFill>
              </a:rPr>
              <a:t>Val и test согласуются по обеим метрикам — кросс-валидация даёт честную оценку.</a:t>
            </a:r>
            <a:endParaRPr b="1" sz="1500">
              <a:solidFill>
                <a:srgbClr val="F9FAFB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9FAFB"/>
              </a:buClr>
              <a:buSzPts val="1500"/>
              <a:buFont typeface="Arial"/>
              <a:buChar char="●"/>
            </a:pPr>
            <a:r>
              <a:rPr b="1" lang="en-US" sz="1500">
                <a:solidFill>
                  <a:srgbClr val="F9FAFB"/>
                </a:solidFill>
              </a:rPr>
              <a:t>Вывод: модель не переобучена критично, результат воспроизводим.</a:t>
            </a:r>
            <a:endParaRPr b="1" sz="1500">
              <a:solidFill>
                <a:srgbClr val="F9FAFB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noFill/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9"/>
          <p:cNvSpPr/>
          <p:nvPr/>
        </p:nvSpPr>
        <p:spPr>
          <a:xfrm>
            <a:off x="0" y="0"/>
            <a:ext cx="12189000" cy="6858000"/>
          </a:xfrm>
          <a:prstGeom prst="rect">
            <a:avLst/>
          </a:prstGeom>
          <a:solidFill>
            <a:srgbClr val="2B2B2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78b33eba-19e2-4731-8d43-067659cf08e8.png" id="138" name="Google Shape;138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2266950" y="-1695450"/>
            <a:ext cx="5105400" cy="42957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78b33eba-19e2-4731-8d43-067659cf08e8.png" id="139" name="Google Shape;139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001125" y="4190999"/>
            <a:ext cx="5581650" cy="4705350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9"/>
          <p:cNvSpPr/>
          <p:nvPr/>
        </p:nvSpPr>
        <p:spPr>
          <a:xfrm>
            <a:off x="3132650" y="532100"/>
            <a:ext cx="5810400" cy="1857300"/>
          </a:xfrm>
          <a:prstGeom prst="roundRect">
            <a:avLst>
              <a:gd fmla="val 0" name="adj"/>
            </a:avLst>
          </a:prstGeom>
          <a:solidFill>
            <a:srgbClr val="FFFFFF">
              <a:alpha val="0"/>
            </a:srgbClr>
          </a:solidFill>
          <a:ln>
            <a:noFill/>
          </a:ln>
        </p:spPr>
        <p:txBody>
          <a:bodyPr anchorCtr="0" anchor="t" bIns="95250" lIns="95250" spcFirstLastPara="1" rIns="95250" wrap="square" tIns="95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Кривая обучения</a:t>
            </a:r>
            <a:endParaRPr/>
          </a:p>
        </p:txBody>
      </p:sp>
      <p:sp>
        <p:nvSpPr>
          <p:cNvPr id="141" name="Google Shape;141;p19"/>
          <p:cNvSpPr/>
          <p:nvPr/>
        </p:nvSpPr>
        <p:spPr>
          <a:xfrm>
            <a:off x="557650" y="4952700"/>
            <a:ext cx="11172300" cy="1905300"/>
          </a:xfrm>
          <a:prstGeom prst="roundRect">
            <a:avLst>
              <a:gd fmla="val 0" name="adj"/>
            </a:avLst>
          </a:prstGeom>
          <a:solidFill>
            <a:srgbClr val="FFFFFF">
              <a:alpha val="0"/>
            </a:srgbClr>
          </a:solidFill>
          <a:ln>
            <a:noFill/>
          </a:ln>
        </p:spPr>
        <p:txBody>
          <a:bodyPr anchorCtr="0" anchor="t" bIns="95250" lIns="95250" spcFirstLastPara="1" rIns="95250" wrap="square" tIns="95250">
            <a:no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9FAFB"/>
              </a:buClr>
              <a:buSzPts val="1600"/>
              <a:buFont typeface="Arial"/>
              <a:buChar char="●"/>
            </a:pPr>
            <a:r>
              <a:rPr b="1" lang="en-US" sz="1600">
                <a:solidFill>
                  <a:srgbClr val="F9FAFB"/>
                </a:solidFill>
              </a:rPr>
              <a:t>F1-macro на train и val при росте обучающей выборки от 256 до 2560 объектов.</a:t>
            </a:r>
            <a:endParaRPr b="1" sz="1600">
              <a:solidFill>
                <a:srgbClr val="F9FAFB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9FAFB"/>
              </a:buClr>
              <a:buSzPts val="1600"/>
              <a:buFont typeface="Arial"/>
              <a:buChar char="●"/>
            </a:pPr>
            <a:r>
              <a:rPr b="1" lang="en-US" sz="1600">
                <a:solidFill>
                  <a:srgbClr val="F9FAFB"/>
                </a:solidFill>
              </a:rPr>
              <a:t>В начале: train = 0.993, val = 0.499, разрыв = 0.494. В конце: train = 0.812, val = 0.727, разрыв = 0.084.</a:t>
            </a:r>
            <a:endParaRPr b="1" sz="1600">
              <a:solidFill>
                <a:srgbClr val="F9FAFB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9FAFB"/>
              </a:buClr>
              <a:buSzPts val="1600"/>
              <a:buFont typeface="Arial"/>
              <a:buChar char="●"/>
            </a:pPr>
            <a:r>
              <a:rPr b="1" lang="en-US" sz="1600">
                <a:solidFill>
                  <a:srgbClr val="F9FAFB"/>
                </a:solidFill>
              </a:rPr>
              <a:t>Val выходит на плато: от 2048 к 2560 прирост всего +0.003.</a:t>
            </a:r>
            <a:endParaRPr b="1" sz="1600">
              <a:solidFill>
                <a:srgbClr val="F9FAFB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9FAFB"/>
              </a:buClr>
              <a:buSzPts val="1600"/>
              <a:buFont typeface="Arial"/>
              <a:buChar char="●"/>
            </a:pPr>
            <a:r>
              <a:rPr b="1" lang="en-US" sz="1600">
                <a:solidFill>
                  <a:srgbClr val="F9FAFB"/>
                </a:solidFill>
              </a:rPr>
              <a:t>Вывод: модель обобщает, а не запоминает. Данных почти достаточно — дальнейший сбор даст +0.01.</a:t>
            </a:r>
            <a:endParaRPr b="1" sz="1600">
              <a:solidFill>
                <a:srgbClr val="F9FAFB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7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F9FAFB"/>
              </a:solidFill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rgbClr val="FFFFFF"/>
              </a:solidFill>
            </a:endParaRPr>
          </a:p>
        </p:txBody>
      </p:sp>
      <p:pic>
        <p:nvPicPr>
          <p:cNvPr descr="06_learning_curve.png" id="142" name="Google Shape;142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544400" y="1484100"/>
            <a:ext cx="5810400" cy="306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noFill/>
      </p:bgPr>
    </p:bg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B2B2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9cf1f51f-86b8-4d35-8f03-013530f8d465.png" id="148" name="Google Shape;148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2257425" y="4371975"/>
            <a:ext cx="51435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20"/>
          <p:cNvSpPr/>
          <p:nvPr/>
        </p:nvSpPr>
        <p:spPr>
          <a:xfrm>
            <a:off x="476250" y="272600"/>
            <a:ext cx="11030100" cy="1276500"/>
          </a:xfrm>
          <a:prstGeom prst="roundRect">
            <a:avLst>
              <a:gd fmla="val 0" name="adj"/>
            </a:avLst>
          </a:prstGeom>
          <a:solidFill>
            <a:srgbClr val="FFFFFF">
              <a:alpha val="0"/>
            </a:srgbClr>
          </a:solidFill>
          <a:ln>
            <a:noFill/>
          </a:ln>
        </p:spPr>
        <p:txBody>
          <a:bodyPr anchorCtr="0" anchor="t" bIns="95250" lIns="95250" spcFirstLastPara="1" rIns="95250" wrap="square" tIns="952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Борьба с переобучением</a:t>
            </a:r>
            <a:endParaRPr sz="400"/>
          </a:p>
        </p:txBody>
      </p:sp>
      <p:sp>
        <p:nvSpPr>
          <p:cNvPr id="150" name="Google Shape;150;p20"/>
          <p:cNvSpPr/>
          <p:nvPr/>
        </p:nvSpPr>
        <p:spPr>
          <a:xfrm>
            <a:off x="685800" y="4813325"/>
            <a:ext cx="10820400" cy="1444500"/>
          </a:xfrm>
          <a:prstGeom prst="roundRect">
            <a:avLst>
              <a:gd fmla="val 0" name="adj"/>
            </a:avLst>
          </a:prstGeom>
          <a:solidFill>
            <a:srgbClr val="FFFFFF">
              <a:alpha val="0"/>
            </a:srgbClr>
          </a:solidFill>
          <a:ln>
            <a:noFill/>
          </a:ln>
        </p:spPr>
        <p:txBody>
          <a:bodyPr anchorCtr="0" anchor="t" bIns="95250" lIns="95250" spcFirstLastPara="1" rIns="95250" wrap="square" tIns="95250">
            <a:no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9FAFB"/>
              </a:buClr>
              <a:buSzPts val="1600"/>
              <a:buFont typeface="Arial"/>
              <a:buChar char="●"/>
            </a:pPr>
            <a:r>
              <a:rPr b="1" lang="en-US" sz="1600">
                <a:solidFill>
                  <a:srgbClr val="F9FAFB"/>
                </a:solidFill>
              </a:rPr>
              <a:t>Подбор силы L2-регуляризации C через GridSearchCV, 6 значений, 5-кратная CV.</a:t>
            </a:r>
            <a:endParaRPr b="1" sz="1600">
              <a:solidFill>
                <a:srgbClr val="F9FAFB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9FAFB"/>
              </a:buClr>
              <a:buSzPts val="1600"/>
              <a:buFont typeface="Arial"/>
              <a:buChar char="●"/>
            </a:pPr>
            <a:r>
              <a:rPr b="1" lang="en-US" sz="1600">
                <a:solidFill>
                  <a:srgbClr val="F9FAFB"/>
                </a:solidFill>
              </a:rPr>
              <a:t>Лучшее C=10 на табличных (0.735), но на комбинированных признаках C=1.0 дал 0.735 против 0.721.</a:t>
            </a:r>
            <a:endParaRPr b="1" sz="1600">
              <a:solidFill>
                <a:srgbClr val="F9FAFB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9FAFB"/>
              </a:buClr>
              <a:buSzPts val="1600"/>
              <a:buFont typeface="Arial"/>
              <a:buChar char="●"/>
            </a:pPr>
            <a:r>
              <a:rPr b="1" lang="en-US" sz="1600">
                <a:solidFill>
                  <a:srgbClr val="F9FAFB"/>
                </a:solidFill>
              </a:rPr>
              <a:t>Оставлено C=1.0 по умолчанию — оптимально для финальной модели.</a:t>
            </a:r>
            <a:endParaRPr b="1" sz="1600">
              <a:solidFill>
                <a:srgbClr val="F9FAFB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9FAFB"/>
              </a:buClr>
              <a:buSzPts val="1600"/>
              <a:buFont typeface="Arial"/>
              <a:buChar char="●"/>
            </a:pPr>
            <a:r>
              <a:rPr b="1" lang="en-US" sz="1600">
                <a:solidFill>
                  <a:srgbClr val="F9FAFB"/>
                </a:solidFill>
              </a:rPr>
              <a:t>Вывод: дефолтное значение регуляризации оказалось лучшим для наших данных.</a:t>
            </a:r>
            <a:endParaRPr b="1" sz="1600">
              <a:solidFill>
                <a:srgbClr val="F9FAFB"/>
              </a:solidFill>
            </a:endParaRPr>
          </a:p>
        </p:txBody>
      </p:sp>
      <p:graphicFrame>
        <p:nvGraphicFramePr>
          <p:cNvPr id="151" name="Google Shape;151;p20"/>
          <p:cNvGraphicFramePr/>
          <p:nvPr/>
        </p:nvGraphicFramePr>
        <p:xfrm>
          <a:off x="2205380" y="149165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{6E253ED9-8033-46A3-A4D7-517238075FF3}</a:tableStyleId>
              </a:tblPr>
              <a:tblGrid>
                <a:gridCol w="3931925"/>
                <a:gridCol w="3931925"/>
              </a:tblGrid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FFFF"/>
                          </a:solidFill>
                        </a:rPr>
                        <a:t>C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FFFF"/>
                          </a:solidFill>
                        </a:rPr>
                        <a:t>F1-macro (CV)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F3A5F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000000"/>
                          </a:solidFill>
                        </a:rPr>
                        <a:t>0.001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000000"/>
                          </a:solidFill>
                        </a:rPr>
                        <a:t>0.346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000000"/>
                          </a:solidFill>
                        </a:rPr>
                        <a:t>0.01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FF3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000000"/>
                          </a:solidFill>
                        </a:rPr>
                        <a:t>0.593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FF3F8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000000"/>
                          </a:solidFill>
                        </a:rPr>
                        <a:t>0.1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000000"/>
                          </a:solidFill>
                        </a:rPr>
                        <a:t>0.700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000000"/>
                          </a:solidFill>
                        </a:rPr>
                        <a:t>1.0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FF3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000000"/>
                          </a:solidFill>
                        </a:rPr>
                        <a:t>0.732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FF3F8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000000"/>
                          </a:solidFill>
                        </a:rPr>
                        <a:t>10.0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000000"/>
                          </a:solidFill>
                        </a:rPr>
                        <a:t>0.735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000000"/>
                          </a:solidFill>
                        </a:rPr>
                        <a:t>100.0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FF3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000000"/>
                          </a:solidFill>
                        </a:rPr>
                        <a:t>0.734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FF3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noFill/>
      </p:bgPr>
    </p:bg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1"/>
          <p:cNvSpPr/>
          <p:nvPr/>
        </p:nvSpPr>
        <p:spPr>
          <a:xfrm>
            <a:off x="-14225" y="0"/>
            <a:ext cx="12189000" cy="6858000"/>
          </a:xfrm>
          <a:prstGeom prst="rect">
            <a:avLst/>
          </a:prstGeom>
          <a:solidFill>
            <a:srgbClr val="2B2B2B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1700"/>
              </a:spcBef>
              <a:spcAft>
                <a:spcPts val="1200"/>
              </a:spcAft>
              <a:buNone/>
            </a:pPr>
            <a:r>
              <a:t/>
            </a:r>
            <a:endParaRPr sz="1200">
              <a:solidFill>
                <a:srgbClr val="F9FAFB"/>
              </a:solidFill>
              <a:highlight>
                <a:srgbClr val="151517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descr="9cf1f51f-86b8-4d35-8f03-013530f8d465.png" id="157" name="Google Shape;157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0100" y="-619125"/>
            <a:ext cx="4876800" cy="4876800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21"/>
          <p:cNvSpPr/>
          <p:nvPr/>
        </p:nvSpPr>
        <p:spPr>
          <a:xfrm>
            <a:off x="2212450" y="198975"/>
            <a:ext cx="9711900" cy="1208700"/>
          </a:xfrm>
          <a:prstGeom prst="roundRect">
            <a:avLst>
              <a:gd fmla="val 0" name="adj"/>
            </a:avLst>
          </a:prstGeom>
          <a:solidFill>
            <a:srgbClr val="FFFFFF">
              <a:alpha val="0"/>
            </a:srgbClr>
          </a:solidFill>
          <a:ln>
            <a:noFill/>
          </a:ln>
        </p:spPr>
        <p:txBody>
          <a:bodyPr anchorCtr="0" anchor="t" bIns="95250" lIns="95250" spcFirstLastPara="1" rIns="95250" wrap="square" tIns="952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8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Ключевые факторы риска</a:t>
            </a:r>
            <a:endParaRPr sz="100"/>
          </a:p>
        </p:txBody>
      </p:sp>
      <p:pic>
        <p:nvPicPr>
          <p:cNvPr descr="8a693d30-8a49-473f-8f1c-e5055bd8c797.png" id="159" name="Google Shape;159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-2700000">
            <a:off x="9548900" y="1904250"/>
            <a:ext cx="1743075" cy="1752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08_feature_importance.png" id="160" name="Google Shape;160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329725" y="1544650"/>
            <a:ext cx="6326501" cy="3358951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21"/>
          <p:cNvSpPr/>
          <p:nvPr/>
        </p:nvSpPr>
        <p:spPr>
          <a:xfrm>
            <a:off x="97825" y="5028550"/>
            <a:ext cx="11964900" cy="1594500"/>
          </a:xfrm>
          <a:prstGeom prst="roundRect">
            <a:avLst>
              <a:gd fmla="val 0" name="adj"/>
            </a:avLst>
          </a:prstGeom>
          <a:solidFill>
            <a:srgbClr val="FFFFFF">
              <a:alpha val="0"/>
            </a:srgbClr>
          </a:solidFill>
          <a:ln>
            <a:noFill/>
          </a:ln>
        </p:spPr>
        <p:txBody>
          <a:bodyPr anchorCtr="0" anchor="t" bIns="95250" lIns="95250" spcFirstLastPara="1" rIns="95250" wrap="square" tIns="95250">
            <a:noAutofit/>
          </a:bodyPr>
          <a:lstStyle/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9FAFB"/>
              </a:buClr>
              <a:buSzPts val="1300"/>
              <a:buFont typeface="Arial"/>
              <a:buChar char="●"/>
            </a:pPr>
            <a:r>
              <a:rPr b="1" lang="en-US" sz="1300">
                <a:solidFill>
                  <a:srgbClr val="F9FAFB"/>
                </a:solidFill>
              </a:rPr>
              <a:t>Топ-15 признаков по влиянию на риск Critical. Красные — повышают риск, зелёные — понижают.</a:t>
            </a:r>
            <a:endParaRPr b="1" sz="1300">
              <a:solidFill>
                <a:srgbClr val="F9FAFB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9FAFB"/>
              </a:buClr>
              <a:buSzPts val="1300"/>
              <a:buFont typeface="Arial"/>
              <a:buChar char="●"/>
            </a:pPr>
            <a:r>
              <a:rPr b="1" lang="en-US" sz="1300">
                <a:solidFill>
                  <a:srgbClr val="F9FAFB"/>
                </a:solidFill>
              </a:rPr>
              <a:t>Повышают риск: отсутствие контроля изменений (+1.73), неформальные процессы (+1.67), высокая сложность (+1.54), младший PM (+1.52).</a:t>
            </a:r>
            <a:endParaRPr b="1" sz="1300">
              <a:solidFill>
                <a:srgbClr val="F9FAFB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9FAFB"/>
              </a:buClr>
              <a:buSzPts val="1300"/>
              <a:buFont typeface="Arial"/>
              <a:buChar char="●"/>
            </a:pPr>
            <a:r>
              <a:rPr b="1" lang="en-US" sz="1300">
                <a:solidFill>
                  <a:srgbClr val="F9FAFB"/>
                </a:solidFill>
              </a:rPr>
              <a:t>Понижают риск: взаимодействие со стейкхолдерами (−2.24), экспертная команда (−2.03), зрелое управление рисками (−2.01).</a:t>
            </a:r>
            <a:endParaRPr b="1" sz="1300">
              <a:solidFill>
                <a:srgbClr val="F9FAFB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9FAFB"/>
              </a:buClr>
              <a:buSzPts val="1300"/>
              <a:buFont typeface="Arial"/>
              <a:buChar char="●"/>
            </a:pPr>
            <a:r>
              <a:rPr b="1" lang="en-US" sz="1300">
                <a:solidFill>
                  <a:srgbClr val="F9FAFB"/>
                </a:solidFill>
              </a:rPr>
              <a:t>Вывод: инвестиции в зрелость процессов и опыт команды дают максимальный эффект.</a:t>
            </a:r>
            <a:endParaRPr b="1" sz="1300">
              <a:solidFill>
                <a:srgbClr val="F9FAFB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425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noFill/>
      </p:bgPr>
    </p:bg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B2B2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78b33eba-19e2-4731-8d43-067659cf08e8.png" id="167" name="Google Shape;167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2266950" y="-1695450"/>
            <a:ext cx="5105400" cy="42957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78b33eba-19e2-4731-8d43-067659cf08e8.png" id="168" name="Google Shape;168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001125" y="4190999"/>
            <a:ext cx="5581650" cy="4705350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22"/>
          <p:cNvSpPr/>
          <p:nvPr/>
        </p:nvSpPr>
        <p:spPr>
          <a:xfrm>
            <a:off x="2046725" y="385375"/>
            <a:ext cx="5810400" cy="1857300"/>
          </a:xfrm>
          <a:prstGeom prst="roundRect">
            <a:avLst>
              <a:gd fmla="val 0" name="adj"/>
            </a:avLst>
          </a:prstGeom>
          <a:solidFill>
            <a:srgbClr val="FFFFFF">
              <a:alpha val="0"/>
            </a:srgbClr>
          </a:solidFill>
          <a:ln>
            <a:noFill/>
          </a:ln>
        </p:spPr>
        <p:txBody>
          <a:bodyPr anchorCtr="0" anchor="t" bIns="95250" lIns="95250" spcFirstLastPara="1" rIns="95250" wrap="square" tIns="95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Где модель ошибается</a:t>
            </a:r>
            <a:endParaRPr/>
          </a:p>
        </p:txBody>
      </p:sp>
      <p:sp>
        <p:nvSpPr>
          <p:cNvPr id="170" name="Google Shape;170;p22"/>
          <p:cNvSpPr/>
          <p:nvPr/>
        </p:nvSpPr>
        <p:spPr>
          <a:xfrm>
            <a:off x="285750" y="5243775"/>
            <a:ext cx="10554000" cy="1279200"/>
          </a:xfrm>
          <a:prstGeom prst="roundRect">
            <a:avLst>
              <a:gd fmla="val 0" name="adj"/>
            </a:avLst>
          </a:prstGeom>
          <a:solidFill>
            <a:srgbClr val="FFFFFF">
              <a:alpha val="0"/>
            </a:srgbClr>
          </a:solidFill>
          <a:ln>
            <a:noFill/>
          </a:ln>
        </p:spPr>
        <p:txBody>
          <a:bodyPr anchorCtr="0" anchor="t" bIns="95250" lIns="95250" spcFirstLastPara="1" rIns="95250" wrap="square" tIns="95250">
            <a:noAutofit/>
          </a:bodyPr>
          <a:lstStyle/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9FAFB"/>
              </a:buClr>
              <a:buSzPts val="1300"/>
              <a:buFont typeface="Arial"/>
              <a:buChar char="●"/>
            </a:pPr>
            <a:r>
              <a:rPr b="1" lang="en-US" sz="1300">
                <a:solidFill>
                  <a:srgbClr val="F9FAFB"/>
                </a:solidFill>
              </a:rPr>
              <a:t>Матрица ошибок: строки — истинный класс, столбцы — предсказанный. По диагонали — правильные ответы.</a:t>
            </a:r>
            <a:endParaRPr b="1" sz="1300">
              <a:solidFill>
                <a:srgbClr val="F9FAFB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9FAFB"/>
              </a:buClr>
              <a:buSzPts val="1300"/>
              <a:buFont typeface="Arial"/>
              <a:buChar char="●"/>
            </a:pPr>
            <a:r>
              <a:rPr b="1" lang="en-US" sz="1300">
                <a:solidFill>
                  <a:srgbClr val="F9FAFB"/>
                </a:solidFill>
              </a:rPr>
              <a:t>Critical: 105 из 153 верно (68.6%). High: 137 из 207 верно (66.2%). Low: 82.6%. Medium: 74.6%.</a:t>
            </a:r>
            <a:endParaRPr b="1" sz="1300">
              <a:solidFill>
                <a:srgbClr val="F9FAFB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9FAFB"/>
              </a:buClr>
              <a:buSzPts val="1300"/>
              <a:buFont typeface="Arial"/>
              <a:buChar char="●"/>
            </a:pPr>
            <a:r>
              <a:rPr b="1" lang="en-US" sz="1300">
                <a:solidFill>
                  <a:srgbClr val="F9FAFB"/>
                </a:solidFill>
              </a:rPr>
              <a:t>Слабый класс — High: F1 = 0.535. Границы между «высоким» и «средним» риском размыты.</a:t>
            </a:r>
            <a:endParaRPr b="1" sz="1300">
              <a:solidFill>
                <a:srgbClr val="F9FAFB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9FAFB"/>
              </a:buClr>
              <a:buSzPts val="1300"/>
              <a:buFont typeface="Arial"/>
              <a:buChar char="●"/>
            </a:pPr>
            <a:r>
              <a:rPr b="1" lang="en-US" sz="1300">
                <a:solidFill>
                  <a:srgbClr val="F9FAFB"/>
                </a:solidFill>
              </a:rPr>
              <a:t>Вывод: если модель говорит Critical — почти всегда права; если High — стоит проверить вручную.</a:t>
            </a:r>
            <a:endParaRPr b="1" sz="1300">
              <a:solidFill>
                <a:srgbClr val="F9FAFB"/>
              </a:solidFill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FFFFFF"/>
              </a:solidFill>
            </a:endParaRPr>
          </a:p>
        </p:txBody>
      </p:sp>
      <p:pic>
        <p:nvPicPr>
          <p:cNvPr descr="11_confusion_matrix.png" id="171" name="Google Shape;171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690375" y="1539250"/>
            <a:ext cx="4314375" cy="33153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noFill/>
      </p:bgPr>
    </p:bg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3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B2B2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78b33eba-19e2-4731-8d43-067659cf08e8.png" id="177" name="Google Shape;177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2266950" y="-1695450"/>
            <a:ext cx="5105400" cy="42957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78b33eba-19e2-4731-8d43-067659cf08e8.png" id="178" name="Google Shape;178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001125" y="4190999"/>
            <a:ext cx="5581650" cy="4705350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23"/>
          <p:cNvSpPr/>
          <p:nvPr/>
        </p:nvSpPr>
        <p:spPr>
          <a:xfrm>
            <a:off x="1653925" y="0"/>
            <a:ext cx="9272400" cy="1857300"/>
          </a:xfrm>
          <a:prstGeom prst="roundRect">
            <a:avLst>
              <a:gd fmla="val 0" name="adj"/>
            </a:avLst>
          </a:prstGeom>
          <a:solidFill>
            <a:srgbClr val="FFFFFF">
              <a:alpha val="0"/>
            </a:srgbClr>
          </a:solidFill>
          <a:ln>
            <a:noFill/>
          </a:ln>
        </p:spPr>
        <p:txBody>
          <a:bodyPr anchorCtr="0" anchor="t" bIns="95250" lIns="95250" spcFirstLastPara="1" rIns="95250" wrap="square" tIns="95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Способность различать классы</a:t>
            </a:r>
            <a:endParaRPr/>
          </a:p>
        </p:txBody>
      </p:sp>
      <p:sp>
        <p:nvSpPr>
          <p:cNvPr id="180" name="Google Shape;180;p23"/>
          <p:cNvSpPr/>
          <p:nvPr/>
        </p:nvSpPr>
        <p:spPr>
          <a:xfrm>
            <a:off x="354225" y="5136150"/>
            <a:ext cx="11023500" cy="2100900"/>
          </a:xfrm>
          <a:prstGeom prst="roundRect">
            <a:avLst>
              <a:gd fmla="val 0" name="adj"/>
            </a:avLst>
          </a:prstGeom>
          <a:solidFill>
            <a:srgbClr val="FFFFFF">
              <a:alpha val="0"/>
            </a:srgbClr>
          </a:solidFill>
          <a:ln>
            <a:noFill/>
          </a:ln>
        </p:spPr>
        <p:txBody>
          <a:bodyPr anchorCtr="0" anchor="t" bIns="95250" lIns="95250" spcFirstLastPara="1" rIns="95250" wrap="square" tIns="95250">
            <a:noAutofit/>
          </a:bodyPr>
          <a:lstStyle/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9FAFB"/>
              </a:buClr>
              <a:buSzPts val="1300"/>
              <a:buFont typeface="Arial"/>
              <a:buChar char="●"/>
            </a:pPr>
            <a:r>
              <a:rPr b="1" lang="en-US" sz="1300">
                <a:solidFill>
                  <a:srgbClr val="F9FAFB"/>
                </a:solidFill>
              </a:rPr>
              <a:t>ROC-кривые для четырёх классов. Оси: доля ложных и правильных срабатываний. Чем ближе к левому верхнему углу, тем лучше.</a:t>
            </a:r>
            <a:endParaRPr b="1" sz="1300">
              <a:solidFill>
                <a:srgbClr val="F9FAFB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9FAFB"/>
              </a:buClr>
              <a:buSzPts val="1300"/>
              <a:buFont typeface="Arial"/>
              <a:buChar char="●"/>
            </a:pPr>
            <a:r>
              <a:rPr b="1" lang="en-US" sz="1300">
                <a:solidFill>
                  <a:srgbClr val="F9FAFB"/>
                </a:solidFill>
              </a:rPr>
              <a:t>AUC: Critical — 0.956, Low — 0.971, High — 0.857, Medium — 0.879.</a:t>
            </a:r>
            <a:endParaRPr b="1" sz="1300">
              <a:solidFill>
                <a:srgbClr val="F9FAFB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9FAFB"/>
              </a:buClr>
              <a:buSzPts val="1300"/>
              <a:buFont typeface="Arial"/>
              <a:buChar char="●"/>
            </a:pPr>
            <a:r>
              <a:rPr b="1" lang="en-US" sz="1300">
                <a:solidFill>
                  <a:srgbClr val="F9FAFB"/>
                </a:solidFill>
              </a:rPr>
              <a:t>Macro-average AUC = 0.916.</a:t>
            </a:r>
            <a:endParaRPr b="1" sz="1300">
              <a:solidFill>
                <a:srgbClr val="F9FAFB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9FAFB"/>
              </a:buClr>
              <a:buSzPts val="1300"/>
              <a:buFont typeface="Arial"/>
              <a:buChar char="●"/>
            </a:pPr>
            <a:r>
              <a:rPr b="1" lang="en-US" sz="1300">
                <a:solidFill>
                  <a:srgbClr val="F9FAFB"/>
                </a:solidFill>
              </a:rPr>
              <a:t>Вывод: модель уверенно ранжирует проекты по уровню риска — крайние классы различает отлично.</a:t>
            </a:r>
            <a:endParaRPr b="1" sz="1300">
              <a:solidFill>
                <a:srgbClr val="F9FAFB"/>
              </a:solidFill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FFFFFF"/>
              </a:solidFill>
            </a:endParaRPr>
          </a:p>
        </p:txBody>
      </p:sp>
      <p:pic>
        <p:nvPicPr>
          <p:cNvPr descr="12_roc_curves.png" id="181" name="Google Shape;181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954525" y="784675"/>
            <a:ext cx="4813301" cy="41978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noFill/>
      </p:bgPr>
    </p:bg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4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B2B2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78b33eba-19e2-4731-8d43-067659cf08e8.png" id="187" name="Google Shape;187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2266950" y="-1695450"/>
            <a:ext cx="5105400" cy="42957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78b33eba-19e2-4731-8d43-067659cf08e8.png" id="188" name="Google Shape;188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001125" y="4190999"/>
            <a:ext cx="5581650" cy="4705350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24"/>
          <p:cNvSpPr/>
          <p:nvPr/>
        </p:nvSpPr>
        <p:spPr>
          <a:xfrm>
            <a:off x="1733650" y="0"/>
            <a:ext cx="9908400" cy="1857300"/>
          </a:xfrm>
          <a:prstGeom prst="roundRect">
            <a:avLst>
              <a:gd fmla="val 0" name="adj"/>
            </a:avLst>
          </a:prstGeom>
          <a:solidFill>
            <a:srgbClr val="FFFFFF">
              <a:alpha val="0"/>
            </a:srgbClr>
          </a:solidFill>
          <a:ln>
            <a:noFill/>
          </a:ln>
        </p:spPr>
        <p:txBody>
          <a:bodyPr anchorCtr="0" anchor="t" bIns="95250" lIns="95250" spcFirstLastPara="1" rIns="95250" wrap="square" tIns="95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Мониторинг динамики риска</a:t>
            </a:r>
            <a:endParaRPr/>
          </a:p>
        </p:txBody>
      </p:sp>
      <p:sp>
        <p:nvSpPr>
          <p:cNvPr id="190" name="Google Shape;190;p24"/>
          <p:cNvSpPr/>
          <p:nvPr/>
        </p:nvSpPr>
        <p:spPr>
          <a:xfrm>
            <a:off x="295525" y="5253550"/>
            <a:ext cx="10583400" cy="1408800"/>
          </a:xfrm>
          <a:prstGeom prst="roundRect">
            <a:avLst>
              <a:gd fmla="val 0" name="adj"/>
            </a:avLst>
          </a:prstGeom>
          <a:solidFill>
            <a:srgbClr val="FFFFFF">
              <a:alpha val="0"/>
            </a:srgbClr>
          </a:solidFill>
          <a:ln>
            <a:noFill/>
          </a:ln>
        </p:spPr>
        <p:txBody>
          <a:bodyPr anchorCtr="0" anchor="t" bIns="95250" lIns="95250" spcFirstLastPara="1" rIns="95250" wrap="square" tIns="95250">
            <a:noAutofit/>
          </a:bodyPr>
          <a:lstStyle/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9FAFB"/>
              </a:buClr>
              <a:buSzPts val="1300"/>
              <a:buFont typeface="Arial"/>
              <a:buChar char="●"/>
            </a:pPr>
            <a:r>
              <a:rPr b="1" lang="en-US" sz="1300">
                <a:solidFill>
                  <a:srgbClr val="F9FAFB"/>
                </a:solidFill>
              </a:rPr>
              <a:t>Прогноз Prophet: чёрные точки — история, синяя линия — модель, голубая зона — 95% доверительный интервал.</a:t>
            </a:r>
            <a:endParaRPr b="1" sz="1300">
              <a:solidFill>
                <a:srgbClr val="F9FAFB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9FAFB"/>
              </a:buClr>
              <a:buSzPts val="1300"/>
              <a:buFont typeface="Arial"/>
              <a:buChar char="●"/>
            </a:pPr>
            <a:r>
              <a:rPr b="1" lang="en-US" sz="1300">
                <a:solidFill>
                  <a:srgbClr val="F9FAFB"/>
                </a:solidFill>
              </a:rPr>
              <a:t>Риск растёт с 0.456 до 0.703 за два года. Средний прирост — 0.9 п.п. в месяц.</a:t>
            </a:r>
            <a:endParaRPr b="1" sz="1300">
              <a:solidFill>
                <a:srgbClr val="F9FAFB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9FAFB"/>
              </a:buClr>
              <a:buSzPts val="1300"/>
              <a:buFont typeface="Arial"/>
              <a:buChar char="●"/>
            </a:pPr>
            <a:r>
              <a:rPr b="1" lang="en-US" sz="1300">
                <a:solidFill>
                  <a:srgbClr val="F9FAFB"/>
                </a:solidFill>
              </a:rPr>
              <a:t>Прогноз на 8 недель: рост на +0.018. Доверительный интервал в конце — 0.566–0.841.</a:t>
            </a:r>
            <a:endParaRPr b="1" sz="1300">
              <a:solidFill>
                <a:srgbClr val="F9FAFB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9FAFB"/>
              </a:buClr>
              <a:buSzPts val="1300"/>
              <a:buFont typeface="Arial"/>
              <a:buChar char="●"/>
            </a:pPr>
            <a:r>
              <a:rPr b="1" lang="en-US" sz="1300">
                <a:solidFill>
                  <a:srgbClr val="F9FAFB"/>
                </a:solidFill>
              </a:rPr>
              <a:t>Вывод: система предупреждает о росте риска за 2 месяца до критической точки.</a:t>
            </a:r>
            <a:endParaRPr b="1" sz="1300">
              <a:solidFill>
                <a:srgbClr val="F9FAFB"/>
              </a:solidFill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rgbClr val="FFFFFF"/>
              </a:solidFill>
            </a:endParaRPr>
          </a:p>
        </p:txBody>
      </p:sp>
      <p:pic>
        <p:nvPicPr>
          <p:cNvPr id="191" name="Google Shape;191;p24" title="risk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8600" y="875600"/>
            <a:ext cx="10839750" cy="4040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noFill/>
      </p:bgPr>
    </p:bg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5"/>
          <p:cNvSpPr/>
          <p:nvPr/>
        </p:nvSpPr>
        <p:spPr>
          <a:xfrm>
            <a:off x="-224725" y="0"/>
            <a:ext cx="12189000" cy="6858000"/>
          </a:xfrm>
          <a:prstGeom prst="rect">
            <a:avLst/>
          </a:prstGeom>
          <a:solidFill>
            <a:srgbClr val="2B2B2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z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9cf1f51f-86b8-4d35-8f03-013530f8d465.png" id="197" name="Google Shape;197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2257425" y="4371975"/>
            <a:ext cx="51435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25"/>
          <p:cNvSpPr/>
          <p:nvPr/>
        </p:nvSpPr>
        <p:spPr>
          <a:xfrm>
            <a:off x="-100950" y="238800"/>
            <a:ext cx="11030100" cy="1276500"/>
          </a:xfrm>
          <a:prstGeom prst="roundRect">
            <a:avLst>
              <a:gd fmla="val 0" name="adj"/>
            </a:avLst>
          </a:prstGeom>
          <a:solidFill>
            <a:srgbClr val="FFFFFF">
              <a:alpha val="0"/>
            </a:srgbClr>
          </a:solidFill>
          <a:ln>
            <a:noFill/>
          </a:ln>
        </p:spPr>
        <p:txBody>
          <a:bodyPr anchorCtr="0" anchor="t" bIns="95250" lIns="95250" spcFirstLastPara="1" rIns="95250" wrap="square" tIns="952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6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План vs факт</a:t>
            </a:r>
            <a:endParaRPr sz="800"/>
          </a:p>
        </p:txBody>
      </p:sp>
      <p:sp>
        <p:nvSpPr>
          <p:cNvPr id="199" name="Google Shape;199;p25"/>
          <p:cNvSpPr/>
          <p:nvPr/>
        </p:nvSpPr>
        <p:spPr>
          <a:xfrm>
            <a:off x="685800" y="2447925"/>
            <a:ext cx="10820400" cy="3810000"/>
          </a:xfrm>
          <a:prstGeom prst="roundRect">
            <a:avLst>
              <a:gd fmla="val 0" name="adj"/>
            </a:avLst>
          </a:prstGeom>
          <a:solidFill>
            <a:srgbClr val="FFFFFF">
              <a:alpha val="0"/>
            </a:srgbClr>
          </a:solidFill>
          <a:ln>
            <a:noFill/>
          </a:ln>
        </p:spPr>
        <p:txBody>
          <a:bodyPr anchorCtr="0" anchor="t" bIns="95250" lIns="95250" spcFirstLastPara="1" rIns="95250" wrap="square" tIns="952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⁠</a:t>
            </a:r>
            <a:endParaRPr/>
          </a:p>
        </p:txBody>
      </p:sp>
      <p:graphicFrame>
        <p:nvGraphicFramePr>
          <p:cNvPr id="200" name="Google Shape;200;p25"/>
          <p:cNvGraphicFramePr/>
          <p:nvPr/>
        </p:nvGraphicFramePr>
        <p:xfrm>
          <a:off x="1814055" y="151530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{6E253ED9-8033-46A3-A4D7-517238075FF3}</a:tableStyleId>
              </a:tblPr>
              <a:tblGrid>
                <a:gridCol w="2586525"/>
                <a:gridCol w="2124650"/>
                <a:gridCol w="3602675"/>
              </a:tblGrid>
              <a:tr h="4913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</a:rPr>
                        <a:t>Планировалось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</a:rPr>
                        <a:t>Получилось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</a:rPr>
                        <a:t>Причина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F3A5F"/>
                    </a:solidFill>
                  </a:tcPr>
                </a:tc>
              </a:tr>
              <a:tr h="4913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000000"/>
                          </a:solidFill>
                        </a:rPr>
                        <a:t>Бустинг (LightGBM)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000000"/>
                          </a:solidFill>
                        </a:rPr>
                        <a:t>LogReg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000000"/>
                          </a:solidFill>
                        </a:rPr>
                        <a:t>Данные линейны: 0.735 vs 0.682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  <a:tr h="4913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000000"/>
                          </a:solidFill>
                        </a:rPr>
                        <a:t>Нейросетевые эмбеддинги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FF3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000000"/>
                          </a:solidFill>
                        </a:rPr>
                        <a:t>TF-IDF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FF3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000000"/>
                          </a:solidFill>
                        </a:rPr>
                        <a:t>Не различают шаблонные тексты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FF3F8"/>
                    </a:solidFill>
                  </a:tcPr>
                </a:tc>
              </a:tr>
              <a:tr h="4913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000000"/>
                          </a:solidFill>
                        </a:rPr>
                        <a:t>Реальные тексты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000000"/>
                          </a:solidFill>
                        </a:rPr>
                        <a:t>Синтетические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000000"/>
                          </a:solidFill>
                        </a:rPr>
                        <a:t>Нет в датасете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  <a:tr h="4913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000000"/>
                          </a:solidFill>
                        </a:rPr>
                        <a:t>Реальный временной ряд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FF3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000000"/>
                          </a:solidFill>
                        </a:rPr>
                        <a:t>Синтетический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FF3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000000"/>
                          </a:solidFill>
                        </a:rPr>
                        <a:t>Нет меток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FF3F8"/>
                    </a:solidFill>
                  </a:tcPr>
                </a:tc>
              </a:tr>
              <a:tr h="4913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000000"/>
                          </a:solidFill>
                        </a:rPr>
                        <a:t>RNN (LSTM)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000000"/>
                          </a:solidFill>
                        </a:rPr>
                        <a:t>Prophet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000000"/>
                          </a:solidFill>
                        </a:rPr>
                        <a:t>Проще, достаточно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01" name="Google Shape;201;p25"/>
          <p:cNvSpPr/>
          <p:nvPr/>
        </p:nvSpPr>
        <p:spPr>
          <a:xfrm>
            <a:off x="354725" y="4981425"/>
            <a:ext cx="11030100" cy="1276500"/>
          </a:xfrm>
          <a:prstGeom prst="roundRect">
            <a:avLst>
              <a:gd fmla="val 0" name="adj"/>
            </a:avLst>
          </a:prstGeom>
          <a:solidFill>
            <a:srgbClr val="FFFFFF">
              <a:alpha val="0"/>
            </a:srgbClr>
          </a:solidFill>
          <a:ln>
            <a:noFill/>
          </a:ln>
        </p:spPr>
        <p:txBody>
          <a:bodyPr anchorCtr="0" anchor="t" bIns="95250" lIns="95250" spcFirstLastPara="1" rIns="95250" wrap="square" tIns="95250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9FAFB"/>
              </a:buClr>
              <a:buSzPts val="1400"/>
              <a:buFont typeface="Arial"/>
              <a:buChar char="●"/>
            </a:pPr>
            <a:r>
              <a:rPr b="1" lang="en-US">
                <a:solidFill>
                  <a:srgbClr val="F9FAFB"/>
                </a:solidFill>
              </a:rPr>
              <a:t>Три гипотезы из пяти отклонились: бустинг → LogReg, эмбеддинги → TF-IDF, RNN → Prophet.</a:t>
            </a:r>
            <a:endParaRPr b="1">
              <a:solidFill>
                <a:srgbClr val="F9FAFB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9FAFB"/>
              </a:buClr>
              <a:buSzPts val="1400"/>
              <a:buFont typeface="Arial"/>
              <a:buChar char="●"/>
            </a:pPr>
            <a:r>
              <a:rPr b="1" lang="en-US">
                <a:solidFill>
                  <a:srgbClr val="F9FAFB"/>
                </a:solidFill>
              </a:rPr>
              <a:t>Два ограничения связаны с данными: нет реальных текстов и временных меток.</a:t>
            </a:r>
            <a:endParaRPr b="1">
              <a:solidFill>
                <a:srgbClr val="F9FAFB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9FAFB"/>
              </a:buClr>
              <a:buSzPts val="1400"/>
              <a:buFont typeface="Arial"/>
              <a:buChar char="●"/>
            </a:pPr>
            <a:r>
              <a:rPr b="1" lang="en-US">
                <a:solidFill>
                  <a:srgbClr val="F9FAFB"/>
                </a:solidFill>
              </a:rPr>
              <a:t>Ключевой вывод: сложность модели не гарантирует качество.</a:t>
            </a:r>
            <a:endParaRPr b="1">
              <a:solidFill>
                <a:srgbClr val="F9FAFB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9FAFB"/>
              </a:buClr>
              <a:buSzPts val="1400"/>
              <a:buFont typeface="Arial"/>
              <a:buChar char="●"/>
            </a:pPr>
            <a:r>
              <a:rPr b="1" lang="en-US">
                <a:solidFill>
                  <a:srgbClr val="F9FAFB"/>
                </a:solidFill>
              </a:rPr>
              <a:t>На этих данных простая линейная модель обошла и бустинг, и нейросеть.</a:t>
            </a:r>
            <a:endParaRPr b="1">
              <a:solidFill>
                <a:srgbClr val="F9FAFB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525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noFill/>
      </p:bgPr>
    </p:bg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2674be7-652a-41b1-9466-4d528baa4705.png" id="206" name="Google Shape;206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88952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26"/>
          <p:cNvSpPr/>
          <p:nvPr/>
        </p:nvSpPr>
        <p:spPr>
          <a:xfrm>
            <a:off x="207500" y="0"/>
            <a:ext cx="11620500" cy="1086000"/>
          </a:xfrm>
          <a:prstGeom prst="roundRect">
            <a:avLst>
              <a:gd fmla="val 0" name="adj"/>
            </a:avLst>
          </a:prstGeom>
          <a:solidFill>
            <a:srgbClr val="FFFFFF">
              <a:alpha val="0"/>
            </a:srgbClr>
          </a:solidFill>
          <a:ln>
            <a:noFill/>
          </a:ln>
        </p:spPr>
        <p:txBody>
          <a:bodyPr anchorCtr="0" anchor="t" bIns="95250" lIns="95250" spcFirstLastPara="1" rIns="95250" wrap="square" tIns="952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Бизнес-ценность</a:t>
            </a:r>
            <a:endParaRPr sz="900"/>
          </a:p>
        </p:txBody>
      </p:sp>
      <p:sp>
        <p:nvSpPr>
          <p:cNvPr id="208" name="Google Shape;208;p26"/>
          <p:cNvSpPr/>
          <p:nvPr/>
        </p:nvSpPr>
        <p:spPr>
          <a:xfrm>
            <a:off x="310175" y="5164600"/>
            <a:ext cx="11048100" cy="1263000"/>
          </a:xfrm>
          <a:prstGeom prst="roundRect">
            <a:avLst>
              <a:gd fmla="val 0" name="adj"/>
            </a:avLst>
          </a:prstGeom>
          <a:solidFill>
            <a:srgbClr val="FFFFFF">
              <a:alpha val="0"/>
            </a:srgbClr>
          </a:solidFill>
          <a:ln>
            <a:noFill/>
          </a:ln>
        </p:spPr>
        <p:txBody>
          <a:bodyPr anchorCtr="0" anchor="t" bIns="95250" lIns="95250" spcFirstLastPara="1" rIns="95250" wrap="square" tIns="95250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9FAFB"/>
              </a:buClr>
              <a:buSzPts val="1400"/>
              <a:buFont typeface="Arial"/>
              <a:buChar char="●"/>
            </a:pPr>
            <a:r>
              <a:rPr b="1" lang="en-US">
                <a:solidFill>
                  <a:srgbClr val="F9FAFB"/>
                </a:solidFill>
              </a:rPr>
              <a:t>Прогноз: модель относит проект к одному из 4 классов риска — Low / Medium / High / Critical — с вероятностью по каждому.</a:t>
            </a:r>
            <a:endParaRPr b="1">
              <a:solidFill>
                <a:srgbClr val="F9FAFB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9FAFB"/>
              </a:buClr>
              <a:buSzPts val="1400"/>
              <a:buFont typeface="Arial"/>
              <a:buChar char="●"/>
            </a:pPr>
            <a:r>
              <a:rPr b="1" lang="en-US">
                <a:solidFill>
                  <a:srgbClr val="F9FAFB"/>
                </a:solidFill>
              </a:rPr>
              <a:t>Причины: конкретные факторы риска для каждого проекта.</a:t>
            </a:r>
            <a:endParaRPr b="1">
              <a:solidFill>
                <a:srgbClr val="F9FAFB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9FAFB"/>
              </a:buClr>
              <a:buSzPts val="1400"/>
              <a:buFont typeface="Arial"/>
              <a:buChar char="●"/>
            </a:pPr>
            <a:r>
              <a:rPr b="1" lang="en-US">
                <a:solidFill>
                  <a:srgbClr val="F9FAFB"/>
                </a:solidFill>
              </a:rPr>
              <a:t>Динамика: изменение риска по неделям, критические точки.</a:t>
            </a:r>
            <a:endParaRPr b="1">
              <a:solidFill>
                <a:srgbClr val="F9FAFB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9FAFB"/>
              </a:buClr>
              <a:buSzPts val="1400"/>
              <a:buFont typeface="Arial"/>
              <a:buChar char="●"/>
            </a:pPr>
            <a:r>
              <a:rPr b="1" lang="en-US">
                <a:solidFill>
                  <a:srgbClr val="F9FAFB"/>
                </a:solidFill>
              </a:rPr>
              <a:t>Экономический эффект: recall 68.6% по Critical — две трети критических проектов находятся заранее.</a:t>
            </a:r>
            <a:endParaRPr b="1">
              <a:solidFill>
                <a:srgbClr val="F9FAFB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9FAFB"/>
              </a:buClr>
              <a:buSzPts val="1400"/>
              <a:buFont typeface="Arial"/>
              <a:buChar char="●"/>
            </a:pPr>
            <a:r>
              <a:rPr b="1" lang="en-US">
                <a:solidFill>
                  <a:srgbClr val="F9FAFB"/>
                </a:solidFill>
              </a:rPr>
              <a:t>Ключевая рекомендация: инвестировать в зрелость процессов и опыт команды.</a:t>
            </a:r>
            <a:endParaRPr b="1">
              <a:solidFill>
                <a:srgbClr val="F9FAFB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</a:endParaRPr>
          </a:p>
        </p:txBody>
      </p:sp>
      <p:pic>
        <p:nvPicPr>
          <p:cNvPr id="209" name="Google Shape;209;p26" title="й1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62369" y="948950"/>
            <a:ext cx="8358106" cy="265921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</p:pic>
      <p:sp>
        <p:nvSpPr>
          <p:cNvPr id="210" name="Google Shape;210;p26"/>
          <p:cNvSpPr/>
          <p:nvPr/>
        </p:nvSpPr>
        <p:spPr>
          <a:xfrm>
            <a:off x="1762375" y="3684100"/>
            <a:ext cx="8792400" cy="1086000"/>
          </a:xfrm>
          <a:prstGeom prst="roundRect">
            <a:avLst>
              <a:gd fmla="val 0" name="adj"/>
            </a:avLst>
          </a:prstGeom>
          <a:solidFill>
            <a:srgbClr val="FFFFFF">
              <a:alpha val="0"/>
            </a:srgbClr>
          </a:solidFill>
          <a:ln>
            <a:noFill/>
          </a:ln>
        </p:spPr>
        <p:txBody>
          <a:bodyPr anchorCtr="0" anchor="t" bIns="95250" lIns="95250" spcFirstLastPara="1" rIns="95250" wrap="square" tIns="95250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9FAFB"/>
              </a:buClr>
              <a:buSzPts val="1400"/>
              <a:buFont typeface="Arial"/>
              <a:buChar char="●"/>
            </a:pPr>
            <a:r>
              <a:rPr b="1" lang="en-US">
                <a:solidFill>
                  <a:srgbClr val="F9FAFB"/>
                </a:solidFill>
              </a:rPr>
              <a:t>Пример прогноза для проекта №1954: модель отнесла его к Critical с вероятностью 0.999.</a:t>
            </a:r>
            <a:endParaRPr b="1">
              <a:solidFill>
                <a:srgbClr val="F9FAFB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9FAFB"/>
              </a:buClr>
              <a:buSzPts val="1400"/>
              <a:buFont typeface="Arial"/>
              <a:buChar char="●"/>
            </a:pPr>
            <a:r>
              <a:rPr b="1" lang="en-US">
                <a:solidFill>
                  <a:srgbClr val="F9FAFB"/>
                </a:solidFill>
              </a:rPr>
              <a:t>Это не бинарный ответ, а распределение вероятностей по всем четырём классам — руководитель видит уверенность модели.</a:t>
            </a:r>
            <a:endParaRPr b="1">
              <a:solidFill>
                <a:srgbClr val="F9FAFB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noFill/>
      </p:bgPr>
    </p:bg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27"/>
          <p:cNvSpPr/>
          <p:nvPr/>
        </p:nvSpPr>
        <p:spPr>
          <a:xfrm>
            <a:off x="-25" y="-587000"/>
            <a:ext cx="12189000" cy="6858000"/>
          </a:xfrm>
          <a:prstGeom prst="rect">
            <a:avLst/>
          </a:prstGeom>
          <a:solidFill>
            <a:srgbClr val="2B2B2B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67c0f95-2097-4610-a659-cb102338cb76.png" id="216" name="Google Shape;216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447800" y="4314825"/>
            <a:ext cx="4057650" cy="4057650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27"/>
          <p:cNvSpPr/>
          <p:nvPr/>
        </p:nvSpPr>
        <p:spPr>
          <a:xfrm>
            <a:off x="-95800" y="-357626"/>
            <a:ext cx="11620500" cy="924000"/>
          </a:xfrm>
          <a:prstGeom prst="roundRect">
            <a:avLst>
              <a:gd fmla="val 0" name="adj"/>
            </a:avLst>
          </a:prstGeom>
          <a:solidFill>
            <a:srgbClr val="FFFFFF">
              <a:alpha val="0"/>
            </a:srgbClr>
          </a:solidFill>
          <a:ln>
            <a:noFill/>
          </a:ln>
        </p:spPr>
        <p:txBody>
          <a:bodyPr anchorCtr="0" anchor="t" bIns="95250" lIns="95250" spcFirstLastPara="1" rIns="95250" wrap="square" tIns="952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FFFFFF"/>
                </a:solidFill>
              </a:rPr>
              <a:t>Итоги</a:t>
            </a:r>
            <a:endParaRPr/>
          </a:p>
        </p:txBody>
      </p:sp>
      <p:sp>
        <p:nvSpPr>
          <p:cNvPr id="218" name="Google Shape;218;p27"/>
          <p:cNvSpPr/>
          <p:nvPr/>
        </p:nvSpPr>
        <p:spPr>
          <a:xfrm>
            <a:off x="402600" y="1047550"/>
            <a:ext cx="10566000" cy="3607500"/>
          </a:xfrm>
          <a:prstGeom prst="roundRect">
            <a:avLst>
              <a:gd fmla="val 0" name="adj"/>
            </a:avLst>
          </a:prstGeom>
          <a:solidFill>
            <a:srgbClr val="FFFFFF">
              <a:alpha val="0"/>
            </a:srgbClr>
          </a:solidFill>
          <a:ln>
            <a:noFill/>
          </a:ln>
        </p:spPr>
        <p:txBody>
          <a:bodyPr anchorCtr="0" anchor="t" bIns="95250" lIns="95250" spcFirstLastPara="1" rIns="95250" wrap="square" tIns="95250">
            <a:no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9FAFB"/>
              </a:buClr>
              <a:buSzPts val="1600"/>
              <a:buFont typeface="Arial"/>
              <a:buChar char="●"/>
            </a:pPr>
            <a:r>
              <a:rPr b="1" lang="en-US" sz="1600">
                <a:solidFill>
                  <a:srgbClr val="F9FAFB"/>
                </a:solidFill>
              </a:rPr>
              <a:t>Построена система поддержки управленческих решений для прогнозирования рисков IT-проектов.</a:t>
            </a:r>
            <a:endParaRPr b="1" sz="1600">
              <a:solidFill>
                <a:srgbClr val="F9FAFB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9FAFB"/>
              </a:buClr>
              <a:buSzPts val="1600"/>
              <a:buFont typeface="Arial"/>
              <a:buChar char="●"/>
            </a:pPr>
            <a:r>
              <a:rPr b="1" lang="en-US" sz="1600">
                <a:solidFill>
                  <a:srgbClr val="F9FAFB"/>
                </a:solidFill>
              </a:rPr>
              <a:t>Прогноз: LogReg + TF-IDF. F1-macro = 0.735, ROC-AUC = 0.916. Обошла LightGBM (0.682) и MLP (0.707).</a:t>
            </a:r>
            <a:endParaRPr b="1" sz="1600">
              <a:solidFill>
                <a:srgbClr val="F9FAFB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9FAFB"/>
              </a:buClr>
              <a:buSzPts val="1600"/>
              <a:buFont typeface="Arial"/>
              <a:buChar char="●"/>
            </a:pPr>
            <a:r>
              <a:rPr b="1" lang="en-US" sz="1600">
                <a:solidFill>
                  <a:srgbClr val="F9FAFB"/>
                </a:solidFill>
              </a:rPr>
              <a:t>Интерпретация: ключевые факторы риска — через коэффициенты и SHAP.</a:t>
            </a:r>
            <a:endParaRPr b="1" sz="1600">
              <a:solidFill>
                <a:srgbClr val="F9FAFB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9FAFB"/>
              </a:buClr>
              <a:buSzPts val="1600"/>
              <a:buFont typeface="Arial"/>
              <a:buChar char="●"/>
            </a:pPr>
            <a:r>
              <a:rPr b="1" lang="en-US" sz="1600">
                <a:solidFill>
                  <a:srgbClr val="F9FAFB"/>
                </a:solidFill>
              </a:rPr>
              <a:t>Мониторинг: Prophet отслеживает динамику риска по неделям, предупреждает за 2 месяца до критической точки.</a:t>
            </a:r>
            <a:endParaRPr b="1" sz="1600">
              <a:solidFill>
                <a:srgbClr val="F9FAFB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9FAFB"/>
              </a:buClr>
              <a:buSzPts val="1600"/>
              <a:buFont typeface="Arial"/>
              <a:buChar char="●"/>
            </a:pPr>
            <a:r>
              <a:rPr b="1" lang="en-US" sz="1600">
                <a:solidFill>
                  <a:srgbClr val="F9FAFB"/>
                </a:solidFill>
              </a:rPr>
              <a:t>Ключевой вывод: сложность модели не гарантирует качество — данные линейны, линейная модель обошла бустинг и нейросеть.</a:t>
            </a:r>
            <a:endParaRPr b="1" sz="1600">
              <a:solidFill>
                <a:srgbClr val="F9FAFB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9FAFB"/>
              </a:buClr>
              <a:buSzPts val="1600"/>
              <a:buFont typeface="Arial"/>
              <a:buChar char="●"/>
            </a:pPr>
            <a:r>
              <a:rPr b="1" lang="en-US" sz="1600">
                <a:solidFill>
                  <a:srgbClr val="F9FAFB"/>
                </a:solidFill>
              </a:rPr>
              <a:t>Практический эффект: модель находит 68.6% критических проектов заранее — руководитель может работать с ними до того, как начнутся потери.</a:t>
            </a:r>
            <a:endParaRPr b="1" sz="1600">
              <a:solidFill>
                <a:srgbClr val="F9FAFB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9FAFB"/>
              </a:buClr>
              <a:buSzPts val="1600"/>
              <a:buFont typeface="Arial"/>
              <a:buChar char="●"/>
            </a:pPr>
            <a:r>
              <a:rPr b="1" lang="en-US" sz="1600">
                <a:solidFill>
                  <a:srgbClr val="F9FAFB"/>
                </a:solidFill>
              </a:rPr>
              <a:t>Что делать: главные факторы риска — отсутствие процессов и слабый опыт команды. Инвестиции в эти области снижают риск сильнее всего.</a:t>
            </a:r>
            <a:endParaRPr b="1" sz="1600">
              <a:solidFill>
                <a:srgbClr val="F9FAFB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70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F9FAFB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</a:endParaRPr>
          </a:p>
        </p:txBody>
      </p:sp>
      <p:sp>
        <p:nvSpPr>
          <p:cNvPr id="219" name="Google Shape;219;p27"/>
          <p:cNvSpPr/>
          <p:nvPr/>
        </p:nvSpPr>
        <p:spPr>
          <a:xfrm>
            <a:off x="3249225" y="5637474"/>
            <a:ext cx="11620500" cy="924000"/>
          </a:xfrm>
          <a:prstGeom prst="roundRect">
            <a:avLst>
              <a:gd fmla="val 0" name="adj"/>
            </a:avLst>
          </a:prstGeom>
          <a:solidFill>
            <a:srgbClr val="FFFFFF">
              <a:alpha val="0"/>
            </a:srgbClr>
          </a:solidFill>
          <a:ln>
            <a:noFill/>
          </a:ln>
        </p:spPr>
        <p:txBody>
          <a:bodyPr anchorCtr="0" anchor="t" bIns="95250" lIns="95250" spcFirstLastPara="1" rIns="95250" wrap="square" tIns="95250">
            <a:noAutofit/>
          </a:bodyPr>
          <a:lstStyle/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>
                <a:solidFill>
                  <a:srgbClr val="F9FAFB"/>
                </a:solidFill>
                <a:latin typeface="Roboto Mono"/>
                <a:ea typeface="Roboto Mono"/>
                <a:cs typeface="Roboto Mono"/>
                <a:sym typeface="Roboto Mono"/>
              </a:rPr>
              <a:t>GitHub: https://github.com/Marfall/IT-PROJECT-RISK/blob/main/IT_Project_Risk.ipynb</a:t>
            </a:r>
            <a:endParaRPr sz="1300">
              <a:solidFill>
                <a:srgbClr val="F9FAFB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6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